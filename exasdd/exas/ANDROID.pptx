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75" r:id="rId6"/>
    <p:sldId id="260" r:id="rId7"/>
    <p:sldId id="261" r:id="rId8"/>
    <p:sldId id="262" r:id="rId9"/>
    <p:sldId id="263" r:id="rId10"/>
    <p:sldId id="264" r:id="rId11"/>
    <p:sldId id="265" r:id="rId12"/>
    <p:sldId id="266" r:id="rId13"/>
    <p:sldId id="267" r:id="rId14"/>
    <p:sldId id="285" r:id="rId15"/>
    <p:sldId id="268" r:id="rId16"/>
    <p:sldId id="269" r:id="rId17"/>
    <p:sldId id="271" r:id="rId18"/>
    <p:sldId id="272" r:id="rId19"/>
    <p:sldId id="273" r:id="rId20"/>
    <p:sldId id="274" r:id="rId21"/>
    <p:sldId id="276" r:id="rId22"/>
    <p:sldId id="277" r:id="rId23"/>
    <p:sldId id="278" r:id="rId24"/>
    <p:sldId id="279" r:id="rId25"/>
    <p:sldId id="280" r:id="rId26"/>
    <p:sldId id="281" r:id="rId27"/>
    <p:sldId id="282" r:id="rId28"/>
    <p:sldId id="283" r:id="rId29"/>
    <p:sldId id="284" r:id="rId30"/>
    <p:sldId id="286" r:id="rId31"/>
    <p:sldId id="287" r:id="rId32"/>
    <p:sldId id="293" r:id="rId33"/>
    <p:sldId id="289" r:id="rId34"/>
    <p:sldId id="290" r:id="rId35"/>
    <p:sldId id="291" r:id="rId36"/>
    <p:sldId id="292"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1/20/2026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blogs/android-app-development-fundamentals-for-beginner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MOBILE APPLICATIONS DEVELOPMENT</a:t>
            </a: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719055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728868" y="0"/>
            <a:ext cx="10588488" cy="6740784"/>
          </a:xfrm>
          <a:prstGeom prst="rect">
            <a:avLst/>
          </a:prstGeom>
        </p:spPr>
      </p:pic>
    </p:spTree>
    <p:extLst>
      <p:ext uri="{BB962C8B-B14F-4D97-AF65-F5344CB8AC3E}">
        <p14:creationId xmlns:p14="http://schemas.microsoft.com/office/powerpoint/2010/main" val="38736868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Activity Lifecycle in Android</a:t>
            </a:r>
          </a:p>
        </p:txBody>
      </p:sp>
      <p:sp>
        <p:nvSpPr>
          <p:cNvPr id="3" name="Content Placeholder 2"/>
          <p:cNvSpPr>
            <a:spLocks noGrp="1"/>
          </p:cNvSpPr>
          <p:nvPr>
            <p:ph idx="1"/>
          </p:nvPr>
        </p:nvSpPr>
        <p:spPr/>
        <p:txBody>
          <a:bodyPr>
            <a:noAutofit/>
          </a:bodyPr>
          <a:lstStyle/>
          <a:p>
            <a:pPr algn="just"/>
            <a:r>
              <a:rPr lang="en-US" sz="2400" dirty="0" smtClean="0">
                <a:solidFill>
                  <a:schemeClr val="tx1">
                    <a:lumMod val="95000"/>
                    <a:lumOff val="5000"/>
                  </a:schemeClr>
                </a:solidFill>
              </a:rPr>
              <a:t>In</a:t>
            </a:r>
            <a:r>
              <a:rPr lang="en-US" sz="2400" dirty="0">
                <a:solidFill>
                  <a:schemeClr val="tx1">
                    <a:lumMod val="95000"/>
                    <a:lumOff val="5000"/>
                  </a:schemeClr>
                </a:solidFill>
              </a:rPr>
              <a:t> </a:t>
            </a:r>
            <a:r>
              <a:rPr lang="en-US" sz="2400" u="sng" dirty="0">
                <a:solidFill>
                  <a:schemeClr val="tx1">
                    <a:lumMod val="95000"/>
                    <a:lumOff val="5000"/>
                  </a:schemeClr>
                </a:solidFill>
                <a:hlinkClick r:id="rId2"/>
              </a:rPr>
              <a:t>Android</a:t>
            </a:r>
            <a:r>
              <a:rPr lang="en-US" sz="2400" dirty="0">
                <a:solidFill>
                  <a:schemeClr val="tx1">
                    <a:lumMod val="95000"/>
                    <a:lumOff val="5000"/>
                  </a:schemeClr>
                </a:solidFill>
              </a:rPr>
              <a:t>, an </a:t>
            </a:r>
            <a:r>
              <a:rPr lang="en-US" sz="2400" b="1" dirty="0">
                <a:solidFill>
                  <a:schemeClr val="tx1">
                    <a:lumMod val="95000"/>
                    <a:lumOff val="5000"/>
                  </a:schemeClr>
                </a:solidFill>
              </a:rPr>
              <a:t>activity</a:t>
            </a:r>
            <a:r>
              <a:rPr lang="en-US" sz="2400" dirty="0">
                <a:solidFill>
                  <a:schemeClr val="tx1">
                    <a:lumMod val="95000"/>
                    <a:lumOff val="5000"/>
                  </a:schemeClr>
                </a:solidFill>
              </a:rPr>
              <a:t> is referred to as one screen in an application</a:t>
            </a:r>
            <a:r>
              <a:rPr lang="en-US" sz="2400" dirty="0" smtClean="0">
                <a:solidFill>
                  <a:schemeClr val="tx1">
                    <a:lumMod val="95000"/>
                    <a:lumOff val="5000"/>
                  </a:schemeClr>
                </a:solidFill>
              </a:rPr>
              <a:t>.</a:t>
            </a:r>
          </a:p>
          <a:p>
            <a:pPr algn="just"/>
            <a:r>
              <a:rPr lang="en-US" sz="2400" dirty="0" smtClean="0">
                <a:solidFill>
                  <a:schemeClr val="tx1">
                    <a:lumMod val="95000"/>
                    <a:lumOff val="5000"/>
                  </a:schemeClr>
                </a:solidFill>
              </a:rPr>
              <a:t> </a:t>
            </a:r>
            <a:r>
              <a:rPr lang="en-US" sz="2400" dirty="0">
                <a:solidFill>
                  <a:schemeClr val="tx1">
                    <a:lumMod val="95000"/>
                    <a:lumOff val="5000"/>
                  </a:schemeClr>
                </a:solidFill>
              </a:rPr>
              <a:t>It is very similar to a single window of any desktop application. </a:t>
            </a:r>
            <a:endParaRPr lang="en-US" sz="2400" dirty="0" smtClean="0">
              <a:solidFill>
                <a:schemeClr val="tx1">
                  <a:lumMod val="95000"/>
                  <a:lumOff val="5000"/>
                </a:schemeClr>
              </a:solidFill>
            </a:endParaRPr>
          </a:p>
          <a:p>
            <a:pPr algn="just"/>
            <a:r>
              <a:rPr lang="en-US" sz="2400" dirty="0" smtClean="0">
                <a:solidFill>
                  <a:schemeClr val="tx1">
                    <a:lumMod val="95000"/>
                    <a:lumOff val="5000"/>
                  </a:schemeClr>
                </a:solidFill>
              </a:rPr>
              <a:t>An </a:t>
            </a:r>
            <a:r>
              <a:rPr lang="en-US" sz="2400" dirty="0">
                <a:solidFill>
                  <a:schemeClr val="tx1">
                    <a:lumMod val="95000"/>
                    <a:lumOff val="5000"/>
                  </a:schemeClr>
                </a:solidFill>
              </a:rPr>
              <a:t>Android app consists of one or more screens or activities. </a:t>
            </a:r>
            <a:endParaRPr lang="en-US" sz="2400" dirty="0" smtClean="0">
              <a:solidFill>
                <a:schemeClr val="tx1">
                  <a:lumMod val="95000"/>
                  <a:lumOff val="5000"/>
                </a:schemeClr>
              </a:solidFill>
            </a:endParaRPr>
          </a:p>
          <a:p>
            <a:pPr algn="just"/>
            <a:r>
              <a:rPr lang="en-US" sz="2400" dirty="0" smtClean="0">
                <a:solidFill>
                  <a:schemeClr val="tx1">
                    <a:lumMod val="95000"/>
                    <a:lumOff val="5000"/>
                  </a:schemeClr>
                </a:solidFill>
              </a:rPr>
              <a:t>Each </a:t>
            </a:r>
            <a:r>
              <a:rPr lang="en-US" sz="2400" dirty="0">
                <a:solidFill>
                  <a:schemeClr val="tx1">
                    <a:lumMod val="95000"/>
                    <a:lumOff val="5000"/>
                  </a:schemeClr>
                </a:solidFill>
              </a:rPr>
              <a:t>activity goes through various stages or a lifecycle and is managed by activity stacks. </a:t>
            </a:r>
            <a:endParaRPr lang="en-US" sz="2400" dirty="0" smtClean="0">
              <a:solidFill>
                <a:schemeClr val="tx1">
                  <a:lumMod val="95000"/>
                  <a:lumOff val="5000"/>
                </a:schemeClr>
              </a:solidFill>
            </a:endParaRPr>
          </a:p>
          <a:p>
            <a:pPr algn="just"/>
            <a:r>
              <a:rPr lang="en-US" sz="2400" dirty="0" smtClean="0">
                <a:solidFill>
                  <a:schemeClr val="tx1">
                    <a:lumMod val="95000"/>
                    <a:lumOff val="5000"/>
                  </a:schemeClr>
                </a:solidFill>
              </a:rPr>
              <a:t>So </a:t>
            </a:r>
            <a:r>
              <a:rPr lang="en-US" sz="2400" dirty="0">
                <a:solidFill>
                  <a:schemeClr val="tx1">
                    <a:lumMod val="95000"/>
                    <a:lumOff val="5000"/>
                  </a:schemeClr>
                </a:solidFill>
              </a:rPr>
              <a:t>when a new activity starts, the previous one always remains below it. </a:t>
            </a:r>
            <a:endParaRPr lang="en-IN" sz="2400" dirty="0">
              <a:solidFill>
                <a:schemeClr val="tx1">
                  <a:lumMod val="95000"/>
                  <a:lumOff val="5000"/>
                </a:schemeClr>
              </a:solidFill>
            </a:endParaRPr>
          </a:p>
        </p:txBody>
      </p:sp>
    </p:spTree>
    <p:extLst>
      <p:ext uri="{BB962C8B-B14F-4D97-AF65-F5344CB8AC3E}">
        <p14:creationId xmlns:p14="http://schemas.microsoft.com/office/powerpoint/2010/main" val="15757208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1" y="172278"/>
            <a:ext cx="10429460" cy="6520070"/>
          </a:xfrm>
        </p:spPr>
        <p:txBody>
          <a:bodyPr>
            <a:noAutofit/>
          </a:bodyPr>
          <a:lstStyle/>
          <a:p>
            <a:pPr algn="just" fontAlgn="base"/>
            <a:r>
              <a:rPr lang="en-US" sz="2300" dirty="0">
                <a:solidFill>
                  <a:schemeClr val="tx1">
                    <a:lumMod val="95000"/>
                    <a:lumOff val="5000"/>
                  </a:schemeClr>
                </a:solidFill>
                <a:latin typeface="Arial" panose="020B0604020202020204" pitchFamily="34" charset="0"/>
                <a:cs typeface="Arial" panose="020B0604020202020204" pitchFamily="34" charset="0"/>
              </a:rPr>
              <a:t>There are four stages of an activity. </a:t>
            </a:r>
          </a:p>
          <a:p>
            <a:pPr marL="457200" indent="-457200" algn="just" fontAlgn="base">
              <a:buFont typeface="+mj-lt"/>
              <a:buAutoNum type="arabicPeriod"/>
            </a:pPr>
            <a:r>
              <a:rPr lang="en-US" sz="2300" dirty="0">
                <a:solidFill>
                  <a:schemeClr val="tx1">
                    <a:lumMod val="95000"/>
                    <a:lumOff val="5000"/>
                  </a:schemeClr>
                </a:solidFill>
                <a:latin typeface="Arial" panose="020B0604020202020204" pitchFamily="34" charset="0"/>
                <a:cs typeface="Arial" panose="020B0604020202020204" pitchFamily="34" charset="0"/>
              </a:rPr>
              <a:t>If an activity is in the foreground of the screen </a:t>
            </a:r>
            <a:r>
              <a:rPr lang="en-US" sz="2300" dirty="0" err="1">
                <a:solidFill>
                  <a:schemeClr val="tx1">
                    <a:lumMod val="95000"/>
                    <a:lumOff val="5000"/>
                  </a:schemeClr>
                </a:solidFill>
                <a:latin typeface="Arial" panose="020B0604020202020204" pitchFamily="34" charset="0"/>
                <a:cs typeface="Arial" panose="020B0604020202020204" pitchFamily="34" charset="0"/>
              </a:rPr>
              <a:t>i.e</a:t>
            </a:r>
            <a:r>
              <a:rPr lang="en-US" sz="2300" dirty="0">
                <a:solidFill>
                  <a:schemeClr val="tx1">
                    <a:lumMod val="95000"/>
                    <a:lumOff val="5000"/>
                  </a:schemeClr>
                </a:solidFill>
                <a:latin typeface="Arial" panose="020B0604020202020204" pitchFamily="34" charset="0"/>
                <a:cs typeface="Arial" panose="020B0604020202020204" pitchFamily="34" charset="0"/>
              </a:rPr>
              <a:t> at the top of the stack, then it is said to be active or running. This is usually the activity that the user is currently interacting with.</a:t>
            </a:r>
          </a:p>
          <a:p>
            <a:pPr marL="457200" indent="-457200" algn="just" fontAlgn="base">
              <a:buFont typeface="+mj-lt"/>
              <a:buAutoNum type="arabicPeriod"/>
            </a:pPr>
            <a:r>
              <a:rPr lang="en-US" sz="2300" dirty="0">
                <a:solidFill>
                  <a:schemeClr val="tx1">
                    <a:lumMod val="95000"/>
                    <a:lumOff val="5000"/>
                  </a:schemeClr>
                </a:solidFill>
                <a:latin typeface="Arial" panose="020B0604020202020204" pitchFamily="34" charset="0"/>
                <a:cs typeface="Arial" panose="020B0604020202020204" pitchFamily="34" charset="0"/>
              </a:rPr>
              <a:t>If an activity has lost focus and a non-full-sized or transparent activity has focused on top of your activity. In such a case either another activity has a higher position in multi-window mode or the activity itself is not focusable in the current window mode. Such activity is completely alive.</a:t>
            </a:r>
          </a:p>
          <a:p>
            <a:pPr marL="457200" indent="-457200" algn="just" fontAlgn="base">
              <a:buFont typeface="+mj-lt"/>
              <a:buAutoNum type="arabicPeriod"/>
            </a:pPr>
            <a:r>
              <a:rPr lang="en-US" sz="2300" dirty="0">
                <a:solidFill>
                  <a:schemeClr val="tx1">
                    <a:lumMod val="95000"/>
                    <a:lumOff val="5000"/>
                  </a:schemeClr>
                </a:solidFill>
                <a:latin typeface="Arial" panose="020B0604020202020204" pitchFamily="34" charset="0"/>
                <a:cs typeface="Arial" panose="020B0604020202020204" pitchFamily="34" charset="0"/>
              </a:rPr>
              <a:t>If an activity is completely hidden by another activity, it is stopped or hidden. It still retains all the information, and as its window is hidden thus it will often be killed by the system when memory is needed elsewhere.</a:t>
            </a:r>
          </a:p>
          <a:p>
            <a:pPr marL="457200" indent="-457200" algn="just" fontAlgn="base">
              <a:buFont typeface="+mj-lt"/>
              <a:buAutoNum type="arabicPeriod"/>
            </a:pPr>
            <a:r>
              <a:rPr lang="en-US" sz="2300" dirty="0">
                <a:solidFill>
                  <a:schemeClr val="tx1">
                    <a:lumMod val="95000"/>
                    <a:lumOff val="5000"/>
                  </a:schemeClr>
                </a:solidFill>
                <a:latin typeface="Arial" panose="020B0604020202020204" pitchFamily="34" charset="0"/>
                <a:cs typeface="Arial" panose="020B0604020202020204" pitchFamily="34" charset="0"/>
              </a:rPr>
              <a:t>The system can destroy the activity from memory by either asking it to finish or simply killing its process. When it is displayed again to the user, it must be completely restarted and restored to its previous state.</a:t>
            </a:r>
          </a:p>
        </p:txBody>
      </p:sp>
    </p:spTree>
    <p:extLst>
      <p:ext uri="{BB962C8B-B14F-4D97-AF65-F5344CB8AC3E}">
        <p14:creationId xmlns:p14="http://schemas.microsoft.com/office/powerpoint/2010/main" val="372228452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10748" y="0"/>
            <a:ext cx="10217426" cy="6725479"/>
          </a:xfrm>
        </p:spPr>
        <p:txBody>
          <a:bodyPr>
            <a:noAutofit/>
          </a:bodyPr>
          <a:lstStyle/>
          <a:p>
            <a:r>
              <a:rPr lang="en-US" dirty="0">
                <a:solidFill>
                  <a:schemeClr val="tx1"/>
                </a:solidFill>
              </a:rPr>
              <a:t>An </a:t>
            </a:r>
            <a:r>
              <a:rPr lang="en-US" b="1" dirty="0">
                <a:solidFill>
                  <a:schemeClr val="tx1"/>
                </a:solidFill>
              </a:rPr>
              <a:t>activity</a:t>
            </a:r>
            <a:r>
              <a:rPr lang="en-US" dirty="0">
                <a:solidFill>
                  <a:schemeClr val="tx1"/>
                </a:solidFill>
              </a:rPr>
              <a:t> in Android can be in </a:t>
            </a:r>
            <a:r>
              <a:rPr lang="en-US" b="1" dirty="0">
                <a:solidFill>
                  <a:schemeClr val="tx1"/>
                </a:solidFill>
              </a:rPr>
              <a:t>four main stages</a:t>
            </a:r>
            <a:r>
              <a:rPr lang="en-US" dirty="0">
                <a:solidFill>
                  <a:schemeClr val="tx1"/>
                </a:solidFill>
              </a:rPr>
              <a:t>:</a:t>
            </a:r>
          </a:p>
          <a:p>
            <a:r>
              <a:rPr lang="en-US" b="1" dirty="0">
                <a:solidFill>
                  <a:schemeClr val="tx1"/>
                </a:solidFill>
              </a:rPr>
              <a:t>Active / Running</a:t>
            </a:r>
            <a:endParaRPr lang="en-US" dirty="0">
              <a:solidFill>
                <a:schemeClr val="tx1"/>
              </a:solidFill>
            </a:endParaRPr>
          </a:p>
          <a:p>
            <a:pPr lvl="1"/>
            <a:r>
              <a:rPr lang="en-US" sz="1800" dirty="0">
                <a:solidFill>
                  <a:schemeClr val="tx1"/>
                </a:solidFill>
              </a:rPr>
              <a:t>The activity is on the screen and at the top.</a:t>
            </a:r>
          </a:p>
          <a:p>
            <a:pPr lvl="1"/>
            <a:r>
              <a:rPr lang="en-US" sz="1800" dirty="0">
                <a:solidFill>
                  <a:schemeClr val="tx1"/>
                </a:solidFill>
              </a:rPr>
              <a:t>The user is directly interacting with it.</a:t>
            </a:r>
          </a:p>
          <a:p>
            <a:pPr lvl="1"/>
            <a:r>
              <a:rPr lang="en-US" sz="1800" dirty="0">
                <a:solidFill>
                  <a:schemeClr val="tx1"/>
                </a:solidFill>
              </a:rPr>
              <a:t>Example: You are typing in an app.</a:t>
            </a:r>
          </a:p>
          <a:p>
            <a:r>
              <a:rPr lang="en-US" b="1" dirty="0">
                <a:solidFill>
                  <a:schemeClr val="tx1"/>
                </a:solidFill>
              </a:rPr>
              <a:t>Paused</a:t>
            </a:r>
            <a:endParaRPr lang="en-US" dirty="0">
              <a:solidFill>
                <a:schemeClr val="tx1"/>
              </a:solidFill>
            </a:endParaRPr>
          </a:p>
          <a:p>
            <a:pPr lvl="1"/>
            <a:r>
              <a:rPr lang="en-US" sz="1800" dirty="0">
                <a:solidFill>
                  <a:schemeClr val="tx1"/>
                </a:solidFill>
              </a:rPr>
              <a:t>The activity is still visible but has lost focus.</a:t>
            </a:r>
          </a:p>
          <a:p>
            <a:pPr lvl="1"/>
            <a:r>
              <a:rPr lang="en-US" sz="1800" dirty="0">
                <a:solidFill>
                  <a:schemeClr val="tx1"/>
                </a:solidFill>
              </a:rPr>
              <a:t>Another </a:t>
            </a:r>
            <a:r>
              <a:rPr lang="en-US" dirty="0">
                <a:solidFill>
                  <a:schemeClr val="tx1"/>
                </a:solidFill>
              </a:rPr>
              <a:t>small</a:t>
            </a:r>
            <a:r>
              <a:rPr lang="en-US" sz="1800" dirty="0">
                <a:solidFill>
                  <a:schemeClr val="tx1"/>
                </a:solidFill>
              </a:rPr>
              <a:t> or transparent activity appears on top of it.</a:t>
            </a:r>
          </a:p>
          <a:p>
            <a:pPr lvl="1"/>
            <a:r>
              <a:rPr lang="en-US" sz="1800" dirty="0">
                <a:solidFill>
                  <a:schemeClr val="tx1"/>
                </a:solidFill>
              </a:rPr>
              <a:t>It is </a:t>
            </a:r>
            <a:r>
              <a:rPr lang="en-US" sz="1800" b="1" dirty="0">
                <a:solidFill>
                  <a:schemeClr val="tx1"/>
                </a:solidFill>
              </a:rPr>
              <a:t>alive</a:t>
            </a:r>
            <a:r>
              <a:rPr lang="en-US" sz="1800" dirty="0">
                <a:solidFill>
                  <a:schemeClr val="tx1"/>
                </a:solidFill>
              </a:rPr>
              <a:t>, but the user cannot interact with it fully.</a:t>
            </a:r>
          </a:p>
          <a:p>
            <a:r>
              <a:rPr lang="en-US" b="1" dirty="0">
                <a:solidFill>
                  <a:schemeClr val="tx1"/>
                </a:solidFill>
              </a:rPr>
              <a:t>Stopped</a:t>
            </a:r>
            <a:endParaRPr lang="en-US" dirty="0">
              <a:solidFill>
                <a:schemeClr val="tx1"/>
              </a:solidFill>
            </a:endParaRPr>
          </a:p>
          <a:p>
            <a:pPr lvl="1"/>
            <a:r>
              <a:rPr lang="en-US" sz="1800" dirty="0">
                <a:solidFill>
                  <a:schemeClr val="tx1"/>
                </a:solidFill>
              </a:rPr>
              <a:t>The activity is completely hidden by another activity.</a:t>
            </a:r>
          </a:p>
          <a:p>
            <a:pPr lvl="1"/>
            <a:r>
              <a:rPr lang="en-US" sz="1800" dirty="0">
                <a:solidFill>
                  <a:schemeClr val="tx1"/>
                </a:solidFill>
              </a:rPr>
              <a:t>It keeps its data, but the screen is not visible.</a:t>
            </a:r>
          </a:p>
          <a:p>
            <a:pPr lvl="1"/>
            <a:r>
              <a:rPr lang="en-US" sz="1800" dirty="0">
                <a:solidFill>
                  <a:schemeClr val="tx1"/>
                </a:solidFill>
              </a:rPr>
              <a:t>The system may close it if memory is needed.</a:t>
            </a:r>
          </a:p>
          <a:p>
            <a:r>
              <a:rPr lang="en-US" b="1" dirty="0">
                <a:solidFill>
                  <a:schemeClr val="tx1"/>
                </a:solidFill>
              </a:rPr>
              <a:t>Destroyed</a:t>
            </a:r>
            <a:endParaRPr lang="en-US" dirty="0">
              <a:solidFill>
                <a:schemeClr val="tx1"/>
              </a:solidFill>
            </a:endParaRPr>
          </a:p>
          <a:p>
            <a:pPr lvl="1"/>
            <a:r>
              <a:rPr lang="en-US" sz="1800" dirty="0">
                <a:solidFill>
                  <a:schemeClr val="tx1"/>
                </a:solidFill>
              </a:rPr>
              <a:t>The system removes the activity from memory.</a:t>
            </a:r>
          </a:p>
          <a:p>
            <a:pPr lvl="1"/>
            <a:r>
              <a:rPr lang="en-US" sz="1800" dirty="0">
                <a:solidFill>
                  <a:schemeClr val="tx1"/>
                </a:solidFill>
              </a:rPr>
              <a:t>This can happen when the user closes it or the system needs resources.</a:t>
            </a:r>
          </a:p>
          <a:p>
            <a:pPr lvl="1"/>
            <a:r>
              <a:rPr lang="en-US" sz="1800" dirty="0">
                <a:solidFill>
                  <a:schemeClr val="tx1"/>
                </a:solidFill>
              </a:rPr>
              <a:t>When opened again, the activity starts fresh and restores its state.</a:t>
            </a:r>
          </a:p>
          <a:p>
            <a:endParaRPr lang="en-US" dirty="0">
              <a:solidFill>
                <a:schemeClr val="tx1"/>
              </a:solidFill>
            </a:endParaRPr>
          </a:p>
        </p:txBody>
      </p:sp>
    </p:spTree>
    <p:extLst>
      <p:ext uri="{BB962C8B-B14F-4D97-AF65-F5344CB8AC3E}">
        <p14:creationId xmlns:p14="http://schemas.microsoft.com/office/powerpoint/2010/main" val="26373056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60106" y="0"/>
            <a:ext cx="6983894" cy="7669501"/>
          </a:xfrm>
          <a:prstGeom prst="rect">
            <a:avLst/>
          </a:prstGeom>
        </p:spPr>
      </p:pic>
    </p:spTree>
    <p:extLst>
      <p:ext uri="{BB962C8B-B14F-4D97-AF65-F5344CB8AC3E}">
        <p14:creationId xmlns:p14="http://schemas.microsoft.com/office/powerpoint/2010/main" val="9855510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defTabSz="914400" eaLnBrk="0" fontAlgn="base" hangingPunct="0">
              <a:spcAft>
                <a:spcPct val="0"/>
              </a:spcAft>
            </a:pPr>
            <a:r>
              <a:rPr lang="en-US" altLang="en-US" b="1" dirty="0">
                <a:solidFill>
                  <a:schemeClr val="tx1"/>
                </a:solidFill>
                <a:latin typeface="Arial" panose="020B0604020202020204" pitchFamily="34" charset="0"/>
              </a:rPr>
              <a:t>1. </a:t>
            </a:r>
            <a:r>
              <a:rPr lang="en-US" altLang="en-US" b="1" dirty="0" err="1">
                <a:solidFill>
                  <a:schemeClr val="tx1"/>
                </a:solidFill>
                <a:latin typeface="Arial Unicode MS" panose="020B0604020202020204" pitchFamily="34" charset="-128"/>
              </a:rPr>
              <a:t>onCreate</a:t>
            </a:r>
            <a:r>
              <a:rPr lang="en-US" altLang="en-US" b="1" dirty="0">
                <a:solidFill>
                  <a:schemeClr val="tx1"/>
                </a:solidFill>
                <a:latin typeface="Arial Unicode MS" panose="020B0604020202020204" pitchFamily="34" charset="-128"/>
              </a:rPr>
              <a:t>()</a:t>
            </a:r>
            <a:endParaRPr lang="en-US" altLang="en-US" b="1" dirty="0">
              <a:solidFill>
                <a:schemeClr val="tx1"/>
              </a:solidFill>
            </a:endParaRPr>
          </a:p>
        </p:txBody>
      </p:sp>
      <p:sp>
        <p:nvSpPr>
          <p:cNvPr id="3" name="Content Placeholder 2"/>
          <p:cNvSpPr>
            <a:spLocks noGrp="1"/>
          </p:cNvSpPr>
          <p:nvPr>
            <p:ph idx="1"/>
          </p:nvPr>
        </p:nvSpPr>
        <p:spPr/>
        <p:txBody>
          <a:bodyPr>
            <a:noAutofit/>
          </a:bodyPr>
          <a:lstStyle/>
          <a:p>
            <a:pPr defTabSz="914400" eaLnBrk="0" fontAlgn="base" hangingPunct="0">
              <a:spcBef>
                <a:spcPct val="0"/>
              </a:spcBef>
              <a:spcAft>
                <a:spcPct val="0"/>
              </a:spcAft>
              <a:buClrTx/>
            </a:pPr>
            <a:r>
              <a:rPr lang="en-US" altLang="en-US" sz="2400" dirty="0" smtClean="0">
                <a:solidFill>
                  <a:schemeClr val="tx1"/>
                </a:solidFill>
                <a:latin typeface="Arial" panose="020B0604020202020204" pitchFamily="34" charset="0"/>
              </a:rPr>
              <a:t>Called </a:t>
            </a:r>
            <a:r>
              <a:rPr lang="en-US" altLang="en-US" sz="2400" dirty="0">
                <a:solidFill>
                  <a:schemeClr val="tx1"/>
                </a:solidFill>
                <a:latin typeface="Arial" panose="020B0604020202020204" pitchFamily="34" charset="0"/>
              </a:rPr>
              <a:t>when the activity is </a:t>
            </a:r>
            <a:r>
              <a:rPr lang="en-US" altLang="en-US" sz="2400" b="1" dirty="0">
                <a:solidFill>
                  <a:schemeClr val="tx1"/>
                </a:solidFill>
                <a:latin typeface="Arial" panose="020B0604020202020204" pitchFamily="34" charset="0"/>
              </a:rPr>
              <a:t>created for the first time</a:t>
            </a:r>
            <a:r>
              <a:rPr lang="en-US" altLang="en-US" sz="2400" dirty="0">
                <a:solidFill>
                  <a:schemeClr val="tx1"/>
                </a:solidFill>
                <a:latin typeface="Arial" panose="020B0604020202020204" pitchFamily="34" charset="0"/>
              </a:rPr>
              <a:t>.</a:t>
            </a:r>
          </a:p>
          <a:p>
            <a:pPr defTabSz="914400" eaLnBrk="0" fontAlgn="base" hangingPunct="0">
              <a:spcBef>
                <a:spcPct val="0"/>
              </a:spcBef>
              <a:spcAft>
                <a:spcPct val="0"/>
              </a:spcAft>
              <a:buClrTx/>
            </a:pPr>
            <a:r>
              <a:rPr lang="en-US" altLang="en-US" sz="2400" dirty="0">
                <a:solidFill>
                  <a:schemeClr val="tx1"/>
                </a:solidFill>
                <a:latin typeface="Arial" panose="020B0604020202020204" pitchFamily="34" charset="0"/>
              </a:rPr>
              <a:t>Used to </a:t>
            </a:r>
            <a:r>
              <a:rPr lang="en-US" altLang="en-US" sz="2400" b="1" dirty="0">
                <a:solidFill>
                  <a:schemeClr val="tx1"/>
                </a:solidFill>
                <a:latin typeface="Arial" panose="020B0604020202020204" pitchFamily="34" charset="0"/>
              </a:rPr>
              <a:t>initialize the activity</a:t>
            </a:r>
            <a:r>
              <a:rPr lang="en-US" altLang="en-US" sz="2400" dirty="0">
                <a:solidFill>
                  <a:schemeClr val="tx1"/>
                </a:solidFill>
                <a:latin typeface="Arial" panose="020B0604020202020204" pitchFamily="34" charset="0"/>
              </a:rPr>
              <a:t>.</a:t>
            </a:r>
          </a:p>
          <a:p>
            <a:pPr defTabSz="914400" eaLnBrk="0" fontAlgn="base" hangingPunct="0">
              <a:spcBef>
                <a:spcPct val="0"/>
              </a:spcBef>
              <a:spcAft>
                <a:spcPct val="0"/>
              </a:spcAft>
              <a:buClrTx/>
            </a:pPr>
            <a:r>
              <a:rPr lang="en-US" altLang="en-US" sz="2400" dirty="0">
                <a:solidFill>
                  <a:schemeClr val="tx1"/>
                </a:solidFill>
                <a:latin typeface="Arial" panose="020B0604020202020204" pitchFamily="34" charset="0"/>
              </a:rPr>
              <a:t>Set the layout using </a:t>
            </a:r>
            <a:r>
              <a:rPr lang="en-US" altLang="en-US" sz="2400" dirty="0" err="1">
                <a:solidFill>
                  <a:schemeClr val="tx1"/>
                </a:solidFill>
                <a:latin typeface="Arial Unicode MS" panose="020B0604020202020204" pitchFamily="34" charset="-128"/>
              </a:rPr>
              <a:t>setContentView</a:t>
            </a:r>
            <a:r>
              <a:rPr lang="en-US" altLang="en-US" sz="2400" dirty="0">
                <a:solidFill>
                  <a:schemeClr val="tx1"/>
                </a:solidFill>
                <a:latin typeface="Arial Unicode MS" panose="020B0604020202020204" pitchFamily="34" charset="-128"/>
              </a:rPr>
              <a:t>()</a:t>
            </a:r>
            <a:r>
              <a:rPr lang="en-US" altLang="en-US" sz="2400" dirty="0">
                <a:solidFill>
                  <a:schemeClr val="tx1"/>
                </a:solidFill>
              </a:rPr>
              <a:t>.</a:t>
            </a:r>
            <a:endParaRPr lang="en-US" altLang="en-US" sz="2400" dirty="0">
              <a:solidFill>
                <a:schemeClr val="tx1"/>
              </a:solidFill>
              <a:latin typeface="Arial" panose="020B0604020202020204" pitchFamily="34" charset="0"/>
            </a:endParaRPr>
          </a:p>
          <a:p>
            <a:pPr defTabSz="914400" eaLnBrk="0" fontAlgn="base" hangingPunct="0">
              <a:spcBef>
                <a:spcPct val="0"/>
              </a:spcBef>
              <a:spcAft>
                <a:spcPct val="0"/>
              </a:spcAft>
              <a:buClrTx/>
            </a:pPr>
            <a:r>
              <a:rPr lang="en-US" altLang="en-US" sz="2400" dirty="0">
                <a:solidFill>
                  <a:schemeClr val="tx1"/>
                </a:solidFill>
                <a:latin typeface="Arial" panose="020B0604020202020204" pitchFamily="34" charset="0"/>
              </a:rPr>
              <a:t>Initialize variables, UI components, databases, etc</a:t>
            </a:r>
            <a:r>
              <a:rPr lang="en-US" altLang="en-US" sz="2400" dirty="0" smtClean="0">
                <a:solidFill>
                  <a:schemeClr val="tx1"/>
                </a:solidFill>
                <a:latin typeface="Arial" panose="020B0604020202020204" pitchFamily="34" charset="0"/>
              </a:rPr>
              <a:t>.</a:t>
            </a:r>
          </a:p>
          <a:p>
            <a:pPr marL="0" lvl="0" indent="0" defTabSz="914400" eaLnBrk="0" fontAlgn="base" hangingPunct="0">
              <a:spcBef>
                <a:spcPct val="0"/>
              </a:spcBef>
              <a:spcAft>
                <a:spcPct val="0"/>
              </a:spcAft>
              <a:buClrTx/>
              <a:buNone/>
            </a:pPr>
            <a:endParaRPr lang="en-US" altLang="en-US" sz="2400" b="1"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None/>
            </a:pPr>
            <a:r>
              <a:rPr lang="en-US" altLang="en-US" sz="2400" b="1" dirty="0" smtClean="0">
                <a:solidFill>
                  <a:schemeClr val="tx1"/>
                </a:solidFill>
                <a:latin typeface="Arial" panose="020B0604020202020204" pitchFamily="34" charset="0"/>
              </a:rPr>
              <a:t>Example </a:t>
            </a:r>
            <a:r>
              <a:rPr lang="en-US" altLang="en-US" sz="2400" b="1" dirty="0">
                <a:solidFill>
                  <a:schemeClr val="tx1"/>
                </a:solidFill>
                <a:latin typeface="Arial" panose="020B0604020202020204" pitchFamily="34" charset="0"/>
              </a:rPr>
              <a:t>use:</a:t>
            </a:r>
            <a:endParaRPr lang="en-US" altLang="en-US" sz="2400" dirty="0">
              <a:solidFill>
                <a:schemeClr val="tx1"/>
              </a:solidFill>
              <a:latin typeface="Arial" panose="020B0604020202020204" pitchFamily="34" charset="0"/>
            </a:endParaRPr>
          </a:p>
          <a:p>
            <a:pPr lvl="1" indent="-342900" defTabSz="914400" eaLnBrk="0" fontAlgn="base" hangingPunct="0">
              <a:spcBef>
                <a:spcPct val="0"/>
              </a:spcBef>
              <a:spcAft>
                <a:spcPct val="0"/>
              </a:spcAft>
              <a:buClrTx/>
            </a:pPr>
            <a:r>
              <a:rPr lang="en-US" altLang="en-US" sz="2200" dirty="0">
                <a:solidFill>
                  <a:schemeClr val="tx1"/>
                </a:solidFill>
                <a:latin typeface="Arial" panose="020B0604020202020204" pitchFamily="34" charset="0"/>
              </a:rPr>
              <a:t>Load UI</a:t>
            </a:r>
          </a:p>
          <a:p>
            <a:pPr lvl="1" indent="-342900" defTabSz="914400" eaLnBrk="0" fontAlgn="base" hangingPunct="0">
              <a:spcBef>
                <a:spcPct val="0"/>
              </a:spcBef>
              <a:spcAft>
                <a:spcPct val="0"/>
              </a:spcAft>
              <a:buClrTx/>
            </a:pPr>
            <a:r>
              <a:rPr lang="en-US" altLang="en-US" sz="2200" dirty="0">
                <a:solidFill>
                  <a:schemeClr val="tx1"/>
                </a:solidFill>
                <a:latin typeface="Arial" panose="020B0604020202020204" pitchFamily="34" charset="0"/>
              </a:rPr>
              <a:t>Initialize buttons, text views</a:t>
            </a:r>
          </a:p>
          <a:p>
            <a:pPr lvl="1" indent="-342900" defTabSz="914400" eaLnBrk="0" fontAlgn="base" hangingPunct="0">
              <a:spcBef>
                <a:spcPct val="0"/>
              </a:spcBef>
              <a:spcAft>
                <a:spcPct val="0"/>
              </a:spcAft>
              <a:buClrTx/>
            </a:pPr>
            <a:r>
              <a:rPr lang="en-US" altLang="en-US" sz="2200" dirty="0">
                <a:solidFill>
                  <a:schemeClr val="tx1"/>
                </a:solidFill>
                <a:latin typeface="Arial" panose="020B0604020202020204" pitchFamily="34" charset="0"/>
              </a:rPr>
              <a:t>Set listeners</a:t>
            </a:r>
          </a:p>
          <a:p>
            <a:pPr lvl="1" indent="-342900" defTabSz="914400" eaLnBrk="0" fontAlgn="base" hangingPunct="0">
              <a:spcBef>
                <a:spcPct val="0"/>
              </a:spcBef>
              <a:spcAft>
                <a:spcPct val="0"/>
              </a:spcAft>
              <a:buClrTx/>
            </a:pPr>
            <a:endParaRPr lang="en-US" altLang="en-US" sz="2200" dirty="0">
              <a:solidFill>
                <a:schemeClr val="tx1"/>
              </a:solidFill>
              <a:latin typeface="Arial" panose="020B0604020202020204" pitchFamily="34" charset="0"/>
            </a:endParaRPr>
          </a:p>
          <a:p>
            <a:pPr marL="0" indent="0" algn="just" fontAlgn="base">
              <a:buNone/>
            </a:pPr>
            <a:endParaRPr lang="en-US" sz="2400" dirty="0">
              <a:solidFill>
                <a:schemeClr val="tx1">
                  <a:lumMod val="95000"/>
                  <a:lumOff val="5000"/>
                </a:schemeClr>
              </a:solidFill>
            </a:endParaRPr>
          </a:p>
        </p:txBody>
      </p:sp>
    </p:spTree>
    <p:extLst>
      <p:ext uri="{BB962C8B-B14F-4D97-AF65-F5344CB8AC3E}">
        <p14:creationId xmlns:p14="http://schemas.microsoft.com/office/powerpoint/2010/main" val="962047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lgn="just" fontAlgn="base">
              <a:buNone/>
            </a:pPr>
            <a:r>
              <a:rPr lang="en-US" sz="2400" b="1" dirty="0">
                <a:solidFill>
                  <a:schemeClr val="tx1"/>
                </a:solidFill>
              </a:rPr>
              <a:t>2. </a:t>
            </a:r>
            <a:r>
              <a:rPr lang="en-US" sz="2400" b="1" dirty="0" err="1">
                <a:solidFill>
                  <a:schemeClr val="tx1"/>
                </a:solidFill>
              </a:rPr>
              <a:t>onStart</a:t>
            </a:r>
            <a:r>
              <a:rPr lang="en-US" sz="2400" b="1" dirty="0">
                <a:solidFill>
                  <a:schemeClr val="tx1"/>
                </a:solidFill>
              </a:rPr>
              <a:t>() </a:t>
            </a:r>
          </a:p>
          <a:p>
            <a:r>
              <a:rPr lang="en-US" sz="2400" dirty="0">
                <a:solidFill>
                  <a:schemeClr val="tx1"/>
                </a:solidFill>
              </a:rPr>
              <a:t>Called when the activity becomes </a:t>
            </a:r>
            <a:r>
              <a:rPr lang="en-US" sz="2400" b="1" dirty="0">
                <a:solidFill>
                  <a:schemeClr val="tx1"/>
                </a:solidFill>
              </a:rPr>
              <a:t>visible to the user</a:t>
            </a:r>
            <a:r>
              <a:rPr lang="en-US" sz="2400" dirty="0">
                <a:solidFill>
                  <a:schemeClr val="tx1"/>
                </a:solidFill>
              </a:rPr>
              <a:t>.</a:t>
            </a:r>
          </a:p>
          <a:p>
            <a:r>
              <a:rPr lang="en-US" sz="2400" dirty="0">
                <a:solidFill>
                  <a:schemeClr val="tx1"/>
                </a:solidFill>
              </a:rPr>
              <a:t>Activity is not yet interactive.</a:t>
            </a:r>
          </a:p>
          <a:p>
            <a:r>
              <a:rPr lang="en-US" sz="2400" b="1" dirty="0">
                <a:solidFill>
                  <a:schemeClr val="tx1"/>
                </a:solidFill>
              </a:rPr>
              <a:t>Example use:</a:t>
            </a:r>
            <a:endParaRPr lang="en-US" sz="2400" dirty="0">
              <a:solidFill>
                <a:schemeClr val="tx1"/>
              </a:solidFill>
            </a:endParaRPr>
          </a:p>
          <a:p>
            <a:pPr lvl="1"/>
            <a:r>
              <a:rPr lang="en-US" sz="2200" dirty="0">
                <a:solidFill>
                  <a:schemeClr val="tx1"/>
                </a:solidFill>
              </a:rPr>
              <a:t>Prepare UI</a:t>
            </a:r>
          </a:p>
          <a:p>
            <a:pPr lvl="1"/>
            <a:r>
              <a:rPr lang="en-US" sz="2200" dirty="0">
                <a:solidFill>
                  <a:schemeClr val="tx1"/>
                </a:solidFill>
              </a:rPr>
              <a:t>Register listeners or receivers</a:t>
            </a:r>
          </a:p>
        </p:txBody>
      </p:sp>
    </p:spTree>
    <p:extLst>
      <p:ext uri="{BB962C8B-B14F-4D97-AF65-F5344CB8AC3E}">
        <p14:creationId xmlns:p14="http://schemas.microsoft.com/office/powerpoint/2010/main" val="36742389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lgn="just" fontAlgn="base">
              <a:buNone/>
            </a:pPr>
            <a:r>
              <a:rPr lang="en-US" sz="2800" b="1" dirty="0">
                <a:solidFill>
                  <a:schemeClr val="tx1">
                    <a:lumMod val="95000"/>
                    <a:lumOff val="5000"/>
                  </a:schemeClr>
                </a:solidFill>
              </a:rPr>
              <a:t>3. </a:t>
            </a:r>
            <a:r>
              <a:rPr lang="en-US" sz="2800" b="1" dirty="0" err="1">
                <a:solidFill>
                  <a:schemeClr val="tx1">
                    <a:lumMod val="95000"/>
                    <a:lumOff val="5000"/>
                  </a:schemeClr>
                </a:solidFill>
              </a:rPr>
              <a:t>onRestart</a:t>
            </a:r>
            <a:r>
              <a:rPr lang="en-US" sz="2800" b="1" dirty="0">
                <a:solidFill>
                  <a:schemeClr val="tx1">
                    <a:lumMod val="95000"/>
                    <a:lumOff val="5000"/>
                  </a:schemeClr>
                </a:solidFill>
              </a:rPr>
              <a:t>() </a:t>
            </a:r>
          </a:p>
          <a:p>
            <a:pPr marL="0" lvl="0" indent="0" defTabSz="914400" eaLnBrk="0" fontAlgn="base" hangingPunct="0">
              <a:spcBef>
                <a:spcPct val="0"/>
              </a:spcBef>
              <a:spcAft>
                <a:spcPct val="0"/>
              </a:spcAft>
              <a:buClrTx/>
              <a:buNone/>
            </a:pPr>
            <a:endParaRPr lang="en-US" altLang="en-US" sz="2800"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Called </a:t>
            </a:r>
            <a:r>
              <a:rPr lang="en-US" altLang="en-US" sz="2800" b="1" dirty="0">
                <a:solidFill>
                  <a:schemeClr val="tx1"/>
                </a:solidFill>
                <a:latin typeface="Arial" panose="020B0604020202020204" pitchFamily="34" charset="0"/>
              </a:rPr>
              <a:t>after </a:t>
            </a:r>
            <a:r>
              <a:rPr lang="en-US" altLang="en-US" sz="2800" b="1" dirty="0" err="1">
                <a:solidFill>
                  <a:schemeClr val="tx1"/>
                </a:solidFill>
                <a:latin typeface="Arial Unicode MS" panose="020B0604020202020204" pitchFamily="34" charset="-128"/>
              </a:rPr>
              <a:t>onStop</a:t>
            </a:r>
            <a:r>
              <a:rPr lang="en-US" altLang="en-US" sz="2800" b="1" dirty="0">
                <a:solidFill>
                  <a:schemeClr val="tx1"/>
                </a:solidFill>
                <a:latin typeface="Arial Unicode MS" panose="020B0604020202020204" pitchFamily="34" charset="-128"/>
              </a:rPr>
              <a:t>()</a:t>
            </a:r>
            <a:r>
              <a:rPr lang="en-US" altLang="en-US" sz="2800" dirty="0">
                <a:solidFill>
                  <a:schemeClr val="tx1"/>
                </a:solidFill>
              </a:rPr>
              <a:t>, when the activity is coming back to the foreground.</a:t>
            </a:r>
            <a:endParaRPr lang="en-US" altLang="en-US" sz="2800"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FontTx/>
              <a:buChar char="•"/>
            </a:pPr>
            <a:r>
              <a:rPr lang="en-US" altLang="en-US" sz="2800" dirty="0">
                <a:solidFill>
                  <a:schemeClr val="tx1"/>
                </a:solidFill>
                <a:latin typeface="Arial" panose="020B0604020202020204" pitchFamily="34" charset="0"/>
              </a:rPr>
              <a:t>Followed by </a:t>
            </a:r>
            <a:r>
              <a:rPr lang="en-US" altLang="en-US" sz="2800" dirty="0" err="1">
                <a:solidFill>
                  <a:schemeClr val="tx1"/>
                </a:solidFill>
                <a:latin typeface="Arial Unicode MS" panose="020B0604020202020204" pitchFamily="34" charset="-128"/>
              </a:rPr>
              <a:t>onStart</a:t>
            </a:r>
            <a:r>
              <a:rPr lang="en-US" altLang="en-US" sz="2800" dirty="0">
                <a:solidFill>
                  <a:schemeClr val="tx1"/>
                </a:solidFill>
                <a:latin typeface="Arial Unicode MS" panose="020B0604020202020204" pitchFamily="34" charset="-128"/>
              </a:rPr>
              <a:t>()</a:t>
            </a:r>
            <a:r>
              <a:rPr lang="en-US" altLang="en-US" sz="2800" dirty="0">
                <a:solidFill>
                  <a:schemeClr val="tx1"/>
                </a:solidFill>
              </a:rPr>
              <a:t>.</a:t>
            </a:r>
            <a:endParaRPr lang="en-US" altLang="en-US" sz="2800"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None/>
            </a:pPr>
            <a:r>
              <a:rPr lang="en-US" altLang="en-US" sz="2800" b="1" dirty="0">
                <a:solidFill>
                  <a:schemeClr val="tx1"/>
                </a:solidFill>
                <a:latin typeface="Arial" panose="020B0604020202020204" pitchFamily="34" charset="0"/>
              </a:rPr>
              <a:t>Example use:</a:t>
            </a:r>
            <a:endParaRPr lang="en-US" altLang="en-US" sz="2800" dirty="0">
              <a:solidFill>
                <a:schemeClr val="tx1"/>
              </a:solidFill>
              <a:latin typeface="Arial" panose="020B0604020202020204" pitchFamily="34" charset="0"/>
            </a:endParaRPr>
          </a:p>
          <a:p>
            <a:pPr marL="400050" lvl="1" indent="0" defTabSz="914400" eaLnBrk="0" fontAlgn="base" hangingPunct="0">
              <a:spcBef>
                <a:spcPct val="0"/>
              </a:spcBef>
              <a:spcAft>
                <a:spcPct val="0"/>
              </a:spcAft>
              <a:buClrTx/>
              <a:buFontTx/>
              <a:buChar char="•"/>
            </a:pPr>
            <a:r>
              <a:rPr lang="en-US" altLang="en-US" sz="2400" dirty="0">
                <a:solidFill>
                  <a:schemeClr val="tx1"/>
                </a:solidFill>
                <a:latin typeface="Arial" panose="020B0604020202020204" pitchFamily="34" charset="0"/>
              </a:rPr>
              <a:t>Re-initialize components that were released</a:t>
            </a:r>
          </a:p>
          <a:p>
            <a:pPr marL="0" lvl="0" indent="0" defTabSz="914400" eaLnBrk="0" fontAlgn="base" hangingPunct="0">
              <a:spcBef>
                <a:spcPct val="0"/>
              </a:spcBef>
              <a:spcAft>
                <a:spcPct val="0"/>
              </a:spcAft>
              <a:buClrTx/>
              <a:buNone/>
            </a:pPr>
            <a:endParaRPr lang="en-US" altLang="en-US" sz="2800" dirty="0">
              <a:solidFill>
                <a:schemeClr val="tx1"/>
              </a:solidFill>
              <a:latin typeface="Arial" panose="020B0604020202020204" pitchFamily="34" charset="0"/>
            </a:endParaRPr>
          </a:p>
        </p:txBody>
      </p:sp>
    </p:spTree>
    <p:extLst>
      <p:ext uri="{BB962C8B-B14F-4D97-AF65-F5344CB8AC3E}">
        <p14:creationId xmlns:p14="http://schemas.microsoft.com/office/powerpoint/2010/main" val="8980490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Autofit/>
          </a:bodyPr>
          <a:lstStyle/>
          <a:p>
            <a:pPr marL="0" indent="0" algn="just" fontAlgn="base">
              <a:buNone/>
            </a:pPr>
            <a:r>
              <a:rPr lang="en-US" sz="2800" b="1" dirty="0">
                <a:solidFill>
                  <a:schemeClr val="tx1"/>
                </a:solidFill>
              </a:rPr>
              <a:t>4. </a:t>
            </a:r>
            <a:r>
              <a:rPr lang="en-US" sz="2800" b="1" dirty="0" err="1">
                <a:solidFill>
                  <a:schemeClr val="tx1"/>
                </a:solidFill>
              </a:rPr>
              <a:t>onResume</a:t>
            </a:r>
            <a:r>
              <a:rPr lang="en-US" sz="2800" b="1" dirty="0">
                <a:solidFill>
                  <a:schemeClr val="tx1"/>
                </a:solidFill>
              </a:rPr>
              <a:t>() </a:t>
            </a:r>
          </a:p>
          <a:p>
            <a:r>
              <a:rPr lang="en-US" sz="2800" dirty="0">
                <a:solidFill>
                  <a:schemeClr val="tx1"/>
                </a:solidFill>
              </a:rPr>
              <a:t>Called when the activity comes to the </a:t>
            </a:r>
            <a:r>
              <a:rPr lang="en-US" sz="2800" b="1" dirty="0">
                <a:solidFill>
                  <a:schemeClr val="tx1"/>
                </a:solidFill>
              </a:rPr>
              <a:t>foreground</a:t>
            </a:r>
            <a:r>
              <a:rPr lang="en-US" sz="2800" dirty="0">
                <a:solidFill>
                  <a:schemeClr val="tx1"/>
                </a:solidFill>
              </a:rPr>
              <a:t> and the user can </a:t>
            </a:r>
            <a:r>
              <a:rPr lang="en-US" sz="2800" b="1" dirty="0">
                <a:solidFill>
                  <a:schemeClr val="tx1"/>
                </a:solidFill>
              </a:rPr>
              <a:t>interact</a:t>
            </a:r>
            <a:r>
              <a:rPr lang="en-US" sz="2800" dirty="0">
                <a:solidFill>
                  <a:schemeClr val="tx1"/>
                </a:solidFill>
              </a:rPr>
              <a:t> with it.</a:t>
            </a:r>
          </a:p>
          <a:p>
            <a:r>
              <a:rPr lang="en-US" sz="2800" dirty="0">
                <a:solidFill>
                  <a:schemeClr val="tx1"/>
                </a:solidFill>
              </a:rPr>
              <a:t>This is the </a:t>
            </a:r>
            <a:r>
              <a:rPr lang="en-US" sz="2800" b="1" dirty="0">
                <a:solidFill>
                  <a:schemeClr val="tx1"/>
                </a:solidFill>
              </a:rPr>
              <a:t>active/running state</a:t>
            </a:r>
            <a:r>
              <a:rPr lang="en-US" sz="2800" dirty="0">
                <a:solidFill>
                  <a:schemeClr val="tx1"/>
                </a:solidFill>
              </a:rPr>
              <a:t>.</a:t>
            </a:r>
          </a:p>
          <a:p>
            <a:r>
              <a:rPr lang="en-US" sz="2800" b="1" dirty="0">
                <a:solidFill>
                  <a:schemeClr val="tx1"/>
                </a:solidFill>
              </a:rPr>
              <a:t>Example use:</a:t>
            </a:r>
            <a:endParaRPr lang="en-US" sz="2800" dirty="0">
              <a:solidFill>
                <a:schemeClr val="tx1"/>
              </a:solidFill>
            </a:endParaRPr>
          </a:p>
          <a:p>
            <a:pPr lvl="1"/>
            <a:r>
              <a:rPr lang="en-US" sz="2400" dirty="0">
                <a:solidFill>
                  <a:schemeClr val="tx1"/>
                </a:solidFill>
              </a:rPr>
              <a:t>Start animations</a:t>
            </a:r>
          </a:p>
          <a:p>
            <a:pPr lvl="1"/>
            <a:r>
              <a:rPr lang="en-US" sz="2400" dirty="0">
                <a:solidFill>
                  <a:schemeClr val="tx1"/>
                </a:solidFill>
              </a:rPr>
              <a:t>Start camera, sensors, music</a:t>
            </a:r>
          </a:p>
          <a:p>
            <a:pPr lvl="1"/>
            <a:r>
              <a:rPr lang="en-US" sz="2400" dirty="0">
                <a:solidFill>
                  <a:schemeClr val="tx1"/>
                </a:solidFill>
              </a:rPr>
              <a:t>Resume paused tasks</a:t>
            </a:r>
          </a:p>
          <a:p>
            <a:pPr lvl="1" algn="just" fontAlgn="base"/>
            <a:endParaRPr lang="en-US" sz="2400" dirty="0">
              <a:solidFill>
                <a:schemeClr val="tx1"/>
              </a:solidFill>
            </a:endParaRPr>
          </a:p>
        </p:txBody>
      </p:sp>
    </p:spTree>
    <p:extLst>
      <p:ext uri="{BB962C8B-B14F-4D97-AF65-F5344CB8AC3E}">
        <p14:creationId xmlns:p14="http://schemas.microsoft.com/office/powerpoint/2010/main" val="378366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1403" y="516835"/>
            <a:ext cx="8915400" cy="3777622"/>
          </a:xfrm>
        </p:spPr>
        <p:txBody>
          <a:bodyPr>
            <a:noAutofit/>
          </a:bodyPr>
          <a:lstStyle/>
          <a:p>
            <a:pPr marL="0" indent="0" algn="just" fontAlgn="base">
              <a:buNone/>
            </a:pPr>
            <a:r>
              <a:rPr lang="en-US" sz="2800" b="1" dirty="0">
                <a:solidFill>
                  <a:schemeClr val="tx1"/>
                </a:solidFill>
              </a:rPr>
              <a:t>5. </a:t>
            </a:r>
            <a:r>
              <a:rPr lang="en-US" sz="2800" b="1" dirty="0" err="1">
                <a:solidFill>
                  <a:schemeClr val="tx1"/>
                </a:solidFill>
              </a:rPr>
              <a:t>onPause</a:t>
            </a:r>
            <a:r>
              <a:rPr lang="en-US" sz="2800" b="1" dirty="0">
                <a:solidFill>
                  <a:schemeClr val="tx1"/>
                </a:solidFill>
              </a:rPr>
              <a:t>() </a:t>
            </a:r>
          </a:p>
          <a:p>
            <a:r>
              <a:rPr lang="en-US" sz="2800" dirty="0">
                <a:solidFill>
                  <a:schemeClr val="tx1"/>
                </a:solidFill>
              </a:rPr>
              <a:t>Called when the activity is </a:t>
            </a:r>
            <a:r>
              <a:rPr lang="en-US" sz="2800" b="1" dirty="0">
                <a:solidFill>
                  <a:schemeClr val="tx1"/>
                </a:solidFill>
              </a:rPr>
              <a:t>partially hidden</a:t>
            </a:r>
            <a:r>
              <a:rPr lang="en-US" sz="2800" dirty="0">
                <a:solidFill>
                  <a:schemeClr val="tx1"/>
                </a:solidFill>
              </a:rPr>
              <a:t>.</a:t>
            </a:r>
          </a:p>
          <a:p>
            <a:r>
              <a:rPr lang="en-US" sz="2800" dirty="0">
                <a:solidFill>
                  <a:schemeClr val="tx1"/>
                </a:solidFill>
              </a:rPr>
              <a:t>Another activity comes in front (dialog, call, notification).</a:t>
            </a:r>
          </a:p>
          <a:p>
            <a:r>
              <a:rPr lang="en-US" sz="2800" b="1" dirty="0">
                <a:solidFill>
                  <a:schemeClr val="tx1"/>
                </a:solidFill>
              </a:rPr>
              <a:t>Important points:</a:t>
            </a:r>
            <a:endParaRPr lang="en-US" sz="2800" dirty="0">
              <a:solidFill>
                <a:schemeClr val="tx1"/>
              </a:solidFill>
            </a:endParaRPr>
          </a:p>
          <a:p>
            <a:pPr lvl="1"/>
            <a:r>
              <a:rPr lang="en-US" sz="2400" dirty="0">
                <a:solidFill>
                  <a:schemeClr val="tx1"/>
                </a:solidFill>
              </a:rPr>
              <a:t>Activity is still visible but </a:t>
            </a:r>
            <a:r>
              <a:rPr lang="en-US" sz="2400" b="1" dirty="0">
                <a:solidFill>
                  <a:schemeClr val="tx1"/>
                </a:solidFill>
              </a:rPr>
              <a:t>not in focus</a:t>
            </a:r>
            <a:r>
              <a:rPr lang="en-US" sz="2400" dirty="0">
                <a:solidFill>
                  <a:schemeClr val="tx1"/>
                </a:solidFill>
              </a:rPr>
              <a:t>.</a:t>
            </a:r>
          </a:p>
          <a:p>
            <a:pPr lvl="1"/>
            <a:r>
              <a:rPr lang="en-US" sz="2400" dirty="0">
                <a:solidFill>
                  <a:schemeClr val="tx1"/>
                </a:solidFill>
              </a:rPr>
              <a:t>Must be quick.</a:t>
            </a:r>
          </a:p>
          <a:p>
            <a:r>
              <a:rPr lang="en-US" sz="2800" b="1" dirty="0">
                <a:solidFill>
                  <a:schemeClr val="tx1"/>
                </a:solidFill>
              </a:rPr>
              <a:t>Example use:</a:t>
            </a:r>
            <a:endParaRPr lang="en-US" sz="2800" dirty="0">
              <a:solidFill>
                <a:schemeClr val="tx1"/>
              </a:solidFill>
            </a:endParaRPr>
          </a:p>
          <a:p>
            <a:pPr lvl="1"/>
            <a:r>
              <a:rPr lang="en-US" sz="2400" dirty="0">
                <a:solidFill>
                  <a:schemeClr val="tx1"/>
                </a:solidFill>
              </a:rPr>
              <a:t>Pause video or music</a:t>
            </a:r>
          </a:p>
          <a:p>
            <a:pPr lvl="1"/>
            <a:r>
              <a:rPr lang="en-US" sz="2400" dirty="0">
                <a:solidFill>
                  <a:schemeClr val="tx1"/>
                </a:solidFill>
              </a:rPr>
              <a:t>Save unsaved data</a:t>
            </a:r>
          </a:p>
          <a:p>
            <a:pPr lvl="1"/>
            <a:r>
              <a:rPr lang="en-US" sz="2400" dirty="0">
                <a:solidFill>
                  <a:schemeClr val="tx1"/>
                </a:solidFill>
              </a:rPr>
              <a:t>Release system resources</a:t>
            </a:r>
          </a:p>
        </p:txBody>
      </p:sp>
    </p:spTree>
    <p:extLst>
      <p:ext uri="{BB962C8B-B14F-4D97-AF65-F5344CB8AC3E}">
        <p14:creationId xmlns:p14="http://schemas.microsoft.com/office/powerpoint/2010/main" val="7440102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63925" y="397565"/>
            <a:ext cx="8915400" cy="3777622"/>
          </a:xfrm>
        </p:spPr>
        <p:txBody>
          <a:bodyPr>
            <a:noAutofit/>
          </a:bodyPr>
          <a:lstStyle/>
          <a:p>
            <a:pPr marL="0" indent="0" algn="just" fontAlgn="base">
              <a:buNone/>
            </a:pPr>
            <a:r>
              <a:rPr lang="en-US" sz="2800" b="1" dirty="0">
                <a:solidFill>
                  <a:schemeClr val="tx1"/>
                </a:solidFill>
              </a:rPr>
              <a:t>6. </a:t>
            </a:r>
            <a:r>
              <a:rPr lang="en-US" sz="2800" b="1" dirty="0" err="1">
                <a:solidFill>
                  <a:schemeClr val="tx1"/>
                </a:solidFill>
              </a:rPr>
              <a:t>onStop</a:t>
            </a:r>
            <a:r>
              <a:rPr lang="en-US" sz="2800" b="1" dirty="0">
                <a:solidFill>
                  <a:schemeClr val="tx1"/>
                </a:solidFill>
              </a:rPr>
              <a:t>()</a:t>
            </a:r>
          </a:p>
          <a:p>
            <a:r>
              <a:rPr lang="en-US" sz="2800" dirty="0">
                <a:solidFill>
                  <a:schemeClr val="tx1"/>
                </a:solidFill>
              </a:rPr>
              <a:t>Called when the activity is </a:t>
            </a:r>
            <a:r>
              <a:rPr lang="en-US" sz="2800" b="1" dirty="0">
                <a:solidFill>
                  <a:schemeClr val="tx1"/>
                </a:solidFill>
              </a:rPr>
              <a:t>completely hidden</a:t>
            </a:r>
            <a:r>
              <a:rPr lang="en-US" sz="2800" dirty="0">
                <a:solidFill>
                  <a:schemeClr val="tx1"/>
                </a:solidFill>
              </a:rPr>
              <a:t>.</a:t>
            </a:r>
          </a:p>
          <a:p>
            <a:r>
              <a:rPr lang="en-US" sz="2800" dirty="0">
                <a:solidFill>
                  <a:schemeClr val="tx1"/>
                </a:solidFill>
              </a:rPr>
              <a:t>Activity is no longer visible.</a:t>
            </a:r>
          </a:p>
          <a:p>
            <a:r>
              <a:rPr lang="en-US" sz="2800" b="1" dirty="0">
                <a:solidFill>
                  <a:schemeClr val="tx1"/>
                </a:solidFill>
              </a:rPr>
              <a:t>Example use:</a:t>
            </a:r>
            <a:endParaRPr lang="en-US" sz="2800" dirty="0">
              <a:solidFill>
                <a:schemeClr val="tx1"/>
              </a:solidFill>
            </a:endParaRPr>
          </a:p>
          <a:p>
            <a:pPr lvl="1"/>
            <a:r>
              <a:rPr lang="en-US" sz="2400" dirty="0">
                <a:solidFill>
                  <a:schemeClr val="tx1"/>
                </a:solidFill>
              </a:rPr>
              <a:t>Stop background tasks</a:t>
            </a:r>
          </a:p>
          <a:p>
            <a:pPr lvl="1"/>
            <a:r>
              <a:rPr lang="en-US" sz="2400" dirty="0">
                <a:solidFill>
                  <a:schemeClr val="tx1"/>
                </a:solidFill>
              </a:rPr>
              <a:t>Unregister receivers</a:t>
            </a:r>
          </a:p>
          <a:p>
            <a:pPr lvl="1"/>
            <a:r>
              <a:rPr lang="en-US" sz="2400" dirty="0">
                <a:solidFill>
                  <a:schemeClr val="tx1"/>
                </a:solidFill>
              </a:rPr>
              <a:t>Release heavy resources</a:t>
            </a:r>
          </a:p>
        </p:txBody>
      </p:sp>
    </p:spTree>
    <p:extLst>
      <p:ext uri="{BB962C8B-B14F-4D97-AF65-F5344CB8AC3E}">
        <p14:creationId xmlns:p14="http://schemas.microsoft.com/office/powerpoint/2010/main" val="271776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9456" y="1205948"/>
            <a:ext cx="8915400" cy="3777622"/>
          </a:xfrm>
        </p:spPr>
        <p:txBody>
          <a:bodyPr>
            <a:noAutofit/>
          </a:bodyPr>
          <a:lstStyle/>
          <a:p>
            <a:pPr marL="0" indent="0" algn="just" fontAlgn="base">
              <a:buNone/>
            </a:pPr>
            <a:r>
              <a:rPr lang="en-US" sz="2800" b="1" dirty="0">
                <a:solidFill>
                  <a:schemeClr val="tx1"/>
                </a:solidFill>
              </a:rPr>
              <a:t>7. </a:t>
            </a:r>
            <a:r>
              <a:rPr lang="en-US" sz="2800" b="1" dirty="0" err="1">
                <a:solidFill>
                  <a:schemeClr val="tx1"/>
                </a:solidFill>
              </a:rPr>
              <a:t>onDestroy</a:t>
            </a:r>
            <a:r>
              <a:rPr lang="en-US" sz="2800" b="1" dirty="0">
                <a:solidFill>
                  <a:schemeClr val="tx1"/>
                </a:solidFill>
              </a:rPr>
              <a:t>() </a:t>
            </a:r>
          </a:p>
          <a:p>
            <a:r>
              <a:rPr lang="en-US" sz="2800" dirty="0">
                <a:solidFill>
                  <a:schemeClr val="tx1"/>
                </a:solidFill>
              </a:rPr>
              <a:t>Called before the activity is </a:t>
            </a:r>
            <a:r>
              <a:rPr lang="en-US" sz="2800" b="1" dirty="0">
                <a:solidFill>
                  <a:schemeClr val="tx1"/>
                </a:solidFill>
              </a:rPr>
              <a:t>destroyed</a:t>
            </a:r>
            <a:r>
              <a:rPr lang="en-US" sz="2800" dirty="0">
                <a:solidFill>
                  <a:schemeClr val="tx1"/>
                </a:solidFill>
              </a:rPr>
              <a:t>.</a:t>
            </a:r>
          </a:p>
          <a:p>
            <a:r>
              <a:rPr lang="en-US" sz="2800" dirty="0">
                <a:solidFill>
                  <a:schemeClr val="tx1"/>
                </a:solidFill>
              </a:rPr>
              <a:t>This is the </a:t>
            </a:r>
            <a:r>
              <a:rPr lang="en-US" sz="2800" b="1" dirty="0">
                <a:solidFill>
                  <a:schemeClr val="tx1"/>
                </a:solidFill>
              </a:rPr>
              <a:t>last method</a:t>
            </a:r>
            <a:r>
              <a:rPr lang="en-US" sz="2800" dirty="0">
                <a:solidFill>
                  <a:schemeClr val="tx1"/>
                </a:solidFill>
              </a:rPr>
              <a:t> in the lifecycle.</a:t>
            </a:r>
          </a:p>
          <a:p>
            <a:r>
              <a:rPr lang="en-US" sz="2800" b="1" dirty="0">
                <a:solidFill>
                  <a:schemeClr val="tx1"/>
                </a:solidFill>
              </a:rPr>
              <a:t>When it occurs:</a:t>
            </a:r>
            <a:endParaRPr lang="en-US" sz="2800" dirty="0">
              <a:solidFill>
                <a:schemeClr val="tx1"/>
              </a:solidFill>
            </a:endParaRPr>
          </a:p>
          <a:p>
            <a:pPr lvl="1"/>
            <a:r>
              <a:rPr lang="en-US" sz="2400" dirty="0">
                <a:solidFill>
                  <a:schemeClr val="tx1"/>
                </a:solidFill>
              </a:rPr>
              <a:t>User presses back</a:t>
            </a:r>
          </a:p>
          <a:p>
            <a:pPr lvl="1"/>
            <a:r>
              <a:rPr lang="en-US" sz="2400" dirty="0">
                <a:solidFill>
                  <a:schemeClr val="tx1"/>
                </a:solidFill>
              </a:rPr>
              <a:t>Activity is finished</a:t>
            </a:r>
          </a:p>
          <a:p>
            <a:pPr lvl="1"/>
            <a:r>
              <a:rPr lang="en-US" sz="2400" dirty="0">
                <a:solidFill>
                  <a:schemeClr val="tx1"/>
                </a:solidFill>
              </a:rPr>
              <a:t>System destroys activity to free memory</a:t>
            </a:r>
          </a:p>
          <a:p>
            <a:r>
              <a:rPr lang="en-US" sz="2800" b="1" dirty="0">
                <a:solidFill>
                  <a:schemeClr val="tx1"/>
                </a:solidFill>
              </a:rPr>
              <a:t>Example use:</a:t>
            </a:r>
            <a:endParaRPr lang="en-US" sz="2800" dirty="0">
              <a:solidFill>
                <a:schemeClr val="tx1"/>
              </a:solidFill>
            </a:endParaRPr>
          </a:p>
          <a:p>
            <a:pPr lvl="1"/>
            <a:r>
              <a:rPr lang="en-US" sz="2400" dirty="0">
                <a:solidFill>
                  <a:schemeClr val="tx1"/>
                </a:solidFill>
              </a:rPr>
              <a:t>Clean up resources</a:t>
            </a:r>
          </a:p>
          <a:p>
            <a:pPr lvl="1"/>
            <a:r>
              <a:rPr lang="en-US" sz="2400" dirty="0">
                <a:solidFill>
                  <a:schemeClr val="tx1"/>
                </a:solidFill>
              </a:rPr>
              <a:t>Close database connections</a:t>
            </a:r>
          </a:p>
        </p:txBody>
      </p:sp>
    </p:spTree>
    <p:extLst>
      <p:ext uri="{BB962C8B-B14F-4D97-AF65-F5344CB8AC3E}">
        <p14:creationId xmlns:p14="http://schemas.microsoft.com/office/powerpoint/2010/main" val="2266663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7638" y="319594"/>
            <a:ext cx="8911687" cy="1280890"/>
          </a:xfrm>
        </p:spPr>
        <p:txBody>
          <a:bodyPr/>
          <a:lstStyle/>
          <a:p>
            <a:pPr lvl="0" defTabSz="914400" eaLnBrk="0" fontAlgn="base" hangingPunct="0">
              <a:spcAft>
                <a:spcPct val="0"/>
              </a:spcAft>
            </a:pPr>
            <a:r>
              <a:rPr lang="en-US" altLang="en-US" b="1" dirty="0">
                <a:solidFill>
                  <a:schemeClr val="tx1"/>
                </a:solidFill>
                <a:latin typeface="Arial" panose="020B0604020202020204" pitchFamily="34" charset="0"/>
              </a:rPr>
              <a:t>Simple Real-Life Example</a:t>
            </a:r>
          </a:p>
        </p:txBody>
      </p:sp>
      <p:sp>
        <p:nvSpPr>
          <p:cNvPr id="4" name="Rectangle 1"/>
          <p:cNvSpPr>
            <a:spLocks noGrp="1" noChangeArrowheads="1"/>
          </p:cNvSpPr>
          <p:nvPr>
            <p:ph idx="1"/>
          </p:nvPr>
        </p:nvSpPr>
        <p:spPr bwMode="auto">
          <a:xfrm>
            <a:off x="2589212" y="960039"/>
            <a:ext cx="6546985"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smtClean="0">
                <a:ln>
                  <a:noFill/>
                </a:ln>
                <a:solidFill>
                  <a:schemeClr val="tx1"/>
                </a:solidFill>
                <a:effectLst/>
                <a:latin typeface="Arial" panose="020B0604020202020204" pitchFamily="34" charset="0"/>
              </a:rPr>
              <a:t>Opening an App</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lvl="1" indent="-342900" defTabSz="914400" eaLnBrk="0" fontAlgn="base" hangingPunct="0">
              <a:spcBef>
                <a:spcPct val="0"/>
              </a:spcBef>
              <a:spcAft>
                <a:spcPct val="0"/>
              </a:spcAft>
              <a:buClrTx/>
              <a:buFont typeface="Wingdings" panose="05000000000000000000" pitchFamily="2" charset="2"/>
              <a:buChar char="Ø"/>
            </a:pP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onCreate</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2400" b="0" i="0" u="none" strike="noStrike" cap="none" normalizeH="0" baseline="0" dirty="0" smtClean="0">
                <a:ln>
                  <a:noFill/>
                </a:ln>
                <a:solidFill>
                  <a:schemeClr val="tx1"/>
                </a:solidFill>
                <a:effectLst/>
              </a:rPr>
              <a:t> – App is created</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lvl="1" indent="-342900" defTabSz="914400" eaLnBrk="0" fontAlgn="base" hangingPunct="0">
              <a:spcBef>
                <a:spcPct val="0"/>
              </a:spcBef>
              <a:spcAft>
                <a:spcPct val="0"/>
              </a:spcAft>
              <a:buClrTx/>
              <a:buFont typeface="Wingdings" panose="05000000000000000000" pitchFamily="2" charset="2"/>
              <a:buChar char="Ø"/>
            </a:pP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onStart</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2400" b="0" i="0" u="none" strike="noStrike" cap="none" normalizeH="0" baseline="0" dirty="0" smtClean="0">
                <a:ln>
                  <a:noFill/>
                </a:ln>
                <a:solidFill>
                  <a:schemeClr val="tx1"/>
                </a:solidFill>
                <a:effectLst/>
              </a:rPr>
              <a:t> – App becomes visible</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lvl="1" indent="-342900" defTabSz="914400" eaLnBrk="0" fontAlgn="base" hangingPunct="0">
              <a:spcBef>
                <a:spcPct val="0"/>
              </a:spcBef>
              <a:spcAft>
                <a:spcPct val="0"/>
              </a:spcAft>
              <a:buClrTx/>
              <a:buFont typeface="Wingdings" panose="05000000000000000000" pitchFamily="2" charset="2"/>
              <a:buChar char="Ø"/>
            </a:pP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onResume</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2400" b="0" i="0" u="none" strike="noStrike" cap="none" normalizeH="0" baseline="0" dirty="0" smtClean="0">
                <a:ln>
                  <a:noFill/>
                </a:ln>
                <a:solidFill>
                  <a:schemeClr val="tx1"/>
                </a:solidFill>
                <a:effectLst/>
              </a:rPr>
              <a:t> – User starts using the app</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smtClean="0">
                <a:ln>
                  <a:noFill/>
                </a:ln>
                <a:solidFill>
                  <a:schemeClr val="tx1"/>
                </a:solidFill>
                <a:effectLst/>
                <a:latin typeface="Arial" panose="020B0604020202020204" pitchFamily="34" charset="0"/>
              </a:rPr>
              <a:t>Incoming Call</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lvl="1" indent="-342900" defTabSz="914400" eaLnBrk="0" fontAlgn="base" hangingPunct="0">
              <a:spcBef>
                <a:spcPct val="0"/>
              </a:spcBef>
              <a:spcAft>
                <a:spcPct val="0"/>
              </a:spcAft>
              <a:buClrTx/>
              <a:buFont typeface="Wingdings" panose="05000000000000000000" pitchFamily="2" charset="2"/>
              <a:buChar char="Ø"/>
            </a:pP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onPause</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2400" b="0" i="0" u="none" strike="noStrike" cap="none" normalizeH="0" baseline="0" dirty="0" smtClean="0">
                <a:ln>
                  <a:noFill/>
                </a:ln>
                <a:solidFill>
                  <a:schemeClr val="tx1"/>
                </a:solidFill>
                <a:effectLst/>
              </a:rPr>
              <a:t> – App loses focus</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lvl="1" indent="-342900" defTabSz="914400" eaLnBrk="0" fontAlgn="base" hangingPunct="0">
              <a:spcBef>
                <a:spcPct val="0"/>
              </a:spcBef>
              <a:spcAft>
                <a:spcPct val="0"/>
              </a:spcAft>
              <a:buClrTx/>
              <a:buFont typeface="Wingdings" panose="05000000000000000000" pitchFamily="2" charset="2"/>
              <a:buChar char="Ø"/>
            </a:pP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onStop</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2400" b="0" i="0" u="none" strike="noStrike" cap="none" normalizeH="0" baseline="0" dirty="0" smtClean="0">
                <a:ln>
                  <a:noFill/>
                </a:ln>
                <a:solidFill>
                  <a:schemeClr val="tx1"/>
                </a:solidFill>
                <a:effectLst/>
              </a:rPr>
              <a:t> – App goes to background</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smtClean="0">
                <a:ln>
                  <a:noFill/>
                </a:ln>
                <a:solidFill>
                  <a:schemeClr val="tx1"/>
                </a:solidFill>
                <a:effectLst/>
                <a:latin typeface="Arial" panose="020B0604020202020204" pitchFamily="34" charset="0"/>
              </a:rPr>
              <a:t>User returns to app</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lvl="1" indent="-342900" defTabSz="914400" eaLnBrk="0" fontAlgn="base" hangingPunct="0">
              <a:spcBef>
                <a:spcPct val="0"/>
              </a:spcBef>
              <a:spcAft>
                <a:spcPct val="0"/>
              </a:spcAft>
              <a:buClrTx/>
              <a:buFont typeface="Wingdings" panose="05000000000000000000" pitchFamily="2" charset="2"/>
              <a:buChar char="Ø"/>
            </a:pP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onRestart</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2400" b="0" i="0" u="none" strike="noStrike" cap="none" normalizeH="0" baseline="0" dirty="0" smtClean="0">
                <a:ln>
                  <a:noFill/>
                </a:ln>
                <a:solidFill>
                  <a:schemeClr val="tx1"/>
                </a:solidFill>
                <a:effectLst/>
              </a:rPr>
              <a:t> → </a:t>
            </a: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onStart</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r>
              <a:rPr kumimoji="0" lang="en-US" altLang="en-US" sz="2400" b="0" i="0" u="none" strike="noStrike" cap="none" normalizeH="0" baseline="0" dirty="0" smtClean="0">
                <a:ln>
                  <a:noFill/>
                </a:ln>
                <a:solidFill>
                  <a:schemeClr val="tx1"/>
                </a:solidFill>
                <a:effectLst/>
              </a:rPr>
              <a:t> → </a:t>
            </a: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onResume</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smtClean="0">
                <a:ln>
                  <a:noFill/>
                </a:ln>
                <a:solidFill>
                  <a:schemeClr val="tx1"/>
                </a:solidFill>
                <a:effectLst/>
                <a:latin typeface="Arial" panose="020B0604020202020204" pitchFamily="34" charset="0"/>
              </a:rPr>
              <a:t>User closes app</a:t>
            </a:r>
            <a:endParaRPr kumimoji="0" lang="en-US" altLang="en-US" sz="2800" b="0" i="0" u="none" strike="noStrike" cap="none" normalizeH="0" baseline="0" dirty="0" smtClean="0">
              <a:ln>
                <a:noFill/>
              </a:ln>
              <a:solidFill>
                <a:schemeClr val="tx1"/>
              </a:solidFill>
              <a:effectLst/>
              <a:latin typeface="Arial" panose="020B0604020202020204" pitchFamily="34" charset="0"/>
            </a:endParaRPr>
          </a:p>
          <a:p>
            <a:pPr lvl="1" indent="-342900" defTabSz="914400" eaLnBrk="0" fontAlgn="base" hangingPunct="0">
              <a:spcBef>
                <a:spcPct val="0"/>
              </a:spcBef>
              <a:spcAft>
                <a:spcPct val="0"/>
              </a:spcAft>
              <a:buClrTx/>
              <a:buFont typeface="Wingdings" panose="05000000000000000000" pitchFamily="2" charset="2"/>
              <a:buChar char="Ø"/>
            </a:pPr>
            <a:r>
              <a:rPr kumimoji="0" lang="en-US" altLang="en-US" sz="2400" b="0" i="0" u="none" strike="noStrike" cap="none" normalizeH="0" baseline="0" dirty="0" err="1" smtClean="0">
                <a:ln>
                  <a:noFill/>
                </a:ln>
                <a:solidFill>
                  <a:schemeClr val="tx1"/>
                </a:solidFill>
                <a:effectLst/>
                <a:latin typeface="Arial Unicode MS" panose="020B0604020202020204" pitchFamily="34" charset="-128"/>
              </a:rPr>
              <a:t>onDestroy</a:t>
            </a:r>
            <a:r>
              <a:rPr kumimoji="0" lang="en-US" altLang="en-US" sz="2400" b="0" i="0" u="none" strike="noStrike" cap="none" normalizeH="0" baseline="0" dirty="0" smtClean="0">
                <a:ln>
                  <a:noFill/>
                </a:ln>
                <a:solidFill>
                  <a:schemeClr val="tx1"/>
                </a:solidFill>
                <a:effectLst/>
                <a:latin typeface="Arial Unicode MS" panose="020B0604020202020204" pitchFamily="34" charset="-128"/>
              </a:rPr>
              <a:t>()</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285971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JSON in Android</a:t>
            </a:r>
            <a:endParaRPr lang="en-IN" dirty="0"/>
          </a:p>
        </p:txBody>
      </p:sp>
      <p:sp>
        <p:nvSpPr>
          <p:cNvPr id="3" name="Content Placeholder 2"/>
          <p:cNvSpPr>
            <a:spLocks noGrp="1"/>
          </p:cNvSpPr>
          <p:nvPr>
            <p:ph idx="1"/>
          </p:nvPr>
        </p:nvSpPr>
        <p:spPr/>
        <p:txBody>
          <a:bodyPr>
            <a:normAutofit/>
          </a:bodyPr>
          <a:lstStyle/>
          <a:p>
            <a:pPr algn="just"/>
            <a:r>
              <a:rPr lang="en-US" sz="2400" b="1" dirty="0">
                <a:solidFill>
                  <a:schemeClr val="tx1"/>
                </a:solidFill>
              </a:rPr>
              <a:t>JSON (JavaScript Object Notation)</a:t>
            </a:r>
            <a:r>
              <a:rPr lang="en-US" sz="2400" dirty="0">
                <a:solidFill>
                  <a:schemeClr val="tx1"/>
                </a:solidFill>
              </a:rPr>
              <a:t> is a lightweight, text-based data format used to store and exchange data. In </a:t>
            </a:r>
            <a:r>
              <a:rPr lang="en-US" sz="2400" b="1" dirty="0">
                <a:solidFill>
                  <a:schemeClr val="tx1"/>
                </a:solidFill>
              </a:rPr>
              <a:t>Android application development</a:t>
            </a:r>
            <a:r>
              <a:rPr lang="en-US" sz="2400" dirty="0">
                <a:solidFill>
                  <a:schemeClr val="tx1"/>
                </a:solidFill>
              </a:rPr>
              <a:t>, JSON is mainly used to </a:t>
            </a:r>
            <a:r>
              <a:rPr lang="en-US" sz="2400" b="1" dirty="0">
                <a:solidFill>
                  <a:schemeClr val="tx1"/>
                </a:solidFill>
              </a:rPr>
              <a:t>send and receive data between an Android app and a server</a:t>
            </a:r>
            <a:r>
              <a:rPr lang="en-US" sz="2400" dirty="0">
                <a:solidFill>
                  <a:schemeClr val="tx1"/>
                </a:solidFill>
              </a:rPr>
              <a:t> (web services / APIs).</a:t>
            </a:r>
            <a:endParaRPr lang="en-IN" sz="2400" dirty="0">
              <a:solidFill>
                <a:schemeClr val="tx1"/>
              </a:solidFill>
            </a:endParaRPr>
          </a:p>
        </p:txBody>
      </p:sp>
    </p:spTree>
    <p:extLst>
      <p:ext uri="{BB962C8B-B14F-4D97-AF65-F5344CB8AC3E}">
        <p14:creationId xmlns:p14="http://schemas.microsoft.com/office/powerpoint/2010/main" val="1558614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24168" y="662608"/>
            <a:ext cx="8915400" cy="3777622"/>
          </a:xfrm>
        </p:spPr>
        <p:txBody>
          <a:bodyPr>
            <a:noAutofit/>
          </a:bodyPr>
          <a:lstStyle/>
          <a:p>
            <a:pPr marL="0" indent="0" algn="just">
              <a:buNone/>
            </a:pPr>
            <a:r>
              <a:rPr lang="en-US" sz="2800" b="1" dirty="0">
                <a:solidFill>
                  <a:schemeClr val="tx1"/>
                </a:solidFill>
              </a:rPr>
              <a:t>What is JSON?</a:t>
            </a:r>
          </a:p>
          <a:p>
            <a:pPr lvl="1" algn="just"/>
            <a:r>
              <a:rPr lang="en-US" sz="2400" dirty="0">
                <a:solidFill>
                  <a:schemeClr val="tx1"/>
                </a:solidFill>
              </a:rPr>
              <a:t>Easy-to-read and easy-to-write format</a:t>
            </a:r>
          </a:p>
          <a:p>
            <a:pPr lvl="1" algn="just"/>
            <a:r>
              <a:rPr lang="en-US" sz="2400" dirty="0">
                <a:solidFill>
                  <a:schemeClr val="tx1"/>
                </a:solidFill>
              </a:rPr>
              <a:t>Language-independent (used with Java, </a:t>
            </a:r>
            <a:r>
              <a:rPr lang="en-US" sz="2400" dirty="0" err="1">
                <a:solidFill>
                  <a:schemeClr val="tx1"/>
                </a:solidFill>
              </a:rPr>
              <a:t>Kotlin</a:t>
            </a:r>
            <a:r>
              <a:rPr lang="en-US" sz="2400" dirty="0">
                <a:solidFill>
                  <a:schemeClr val="tx1"/>
                </a:solidFill>
              </a:rPr>
              <a:t>, Python, PHP, etc.)</a:t>
            </a:r>
          </a:p>
          <a:p>
            <a:pPr lvl="1" algn="just"/>
            <a:r>
              <a:rPr lang="en-US" sz="2400" dirty="0">
                <a:solidFill>
                  <a:schemeClr val="tx1"/>
                </a:solidFill>
              </a:rPr>
              <a:t>Commonly used in </a:t>
            </a:r>
            <a:r>
              <a:rPr lang="en-US" sz="2400" b="1" dirty="0">
                <a:solidFill>
                  <a:schemeClr val="tx1"/>
                </a:solidFill>
              </a:rPr>
              <a:t>RESTful web </a:t>
            </a:r>
            <a:r>
              <a:rPr lang="en-US" sz="2400" b="1" dirty="0" smtClean="0">
                <a:solidFill>
                  <a:schemeClr val="tx1"/>
                </a:solidFill>
              </a:rPr>
              <a:t>services</a:t>
            </a:r>
          </a:p>
          <a:p>
            <a:pPr algn="just"/>
            <a:endParaRPr lang="en-US" sz="2800" b="1" dirty="0" smtClean="0">
              <a:solidFill>
                <a:schemeClr val="tx1"/>
              </a:solidFill>
            </a:endParaRPr>
          </a:p>
          <a:p>
            <a:pPr marL="0" indent="0" algn="just">
              <a:buNone/>
            </a:pPr>
            <a:r>
              <a:rPr lang="en-US" sz="2800" b="1" dirty="0" smtClean="0">
                <a:solidFill>
                  <a:schemeClr val="tx1"/>
                </a:solidFill>
              </a:rPr>
              <a:t> </a:t>
            </a:r>
            <a:r>
              <a:rPr lang="en-US" sz="2800" b="1" dirty="0">
                <a:solidFill>
                  <a:schemeClr val="tx1"/>
                </a:solidFill>
              </a:rPr>
              <a:t>Features of JSON</a:t>
            </a:r>
          </a:p>
          <a:p>
            <a:pPr lvl="1" algn="just"/>
            <a:r>
              <a:rPr lang="en-US" sz="2400" dirty="0">
                <a:solidFill>
                  <a:schemeClr val="tx1"/>
                </a:solidFill>
              </a:rPr>
              <a:t>Simple structure</a:t>
            </a:r>
          </a:p>
          <a:p>
            <a:pPr lvl="1" algn="just"/>
            <a:r>
              <a:rPr lang="en-US" sz="2400" dirty="0">
                <a:solidFill>
                  <a:schemeClr val="tx1"/>
                </a:solidFill>
              </a:rPr>
              <a:t>Uses </a:t>
            </a:r>
            <a:r>
              <a:rPr lang="en-US" sz="2400" b="1" dirty="0">
                <a:solidFill>
                  <a:schemeClr val="tx1"/>
                </a:solidFill>
              </a:rPr>
              <a:t>key–value pairs</a:t>
            </a:r>
            <a:endParaRPr lang="en-US" sz="2400" dirty="0">
              <a:solidFill>
                <a:schemeClr val="tx1"/>
              </a:solidFill>
            </a:endParaRPr>
          </a:p>
          <a:p>
            <a:pPr lvl="1" algn="just"/>
            <a:r>
              <a:rPr lang="en-US" sz="2400" dirty="0">
                <a:solidFill>
                  <a:schemeClr val="tx1"/>
                </a:solidFill>
              </a:rPr>
              <a:t>Supports arrays and nested objects</a:t>
            </a:r>
          </a:p>
          <a:p>
            <a:pPr lvl="1" algn="just"/>
            <a:r>
              <a:rPr lang="en-US" sz="2400" dirty="0">
                <a:solidFill>
                  <a:schemeClr val="tx1"/>
                </a:solidFill>
              </a:rPr>
              <a:t>Platform independent</a:t>
            </a:r>
          </a:p>
          <a:p>
            <a:pPr algn="just"/>
            <a:endParaRPr lang="en-US" sz="2800" dirty="0">
              <a:solidFill>
                <a:schemeClr val="tx1"/>
              </a:solidFill>
            </a:endParaRPr>
          </a:p>
        </p:txBody>
      </p:sp>
    </p:spTree>
    <p:extLst>
      <p:ext uri="{BB962C8B-B14F-4D97-AF65-F5344CB8AC3E}">
        <p14:creationId xmlns:p14="http://schemas.microsoft.com/office/powerpoint/2010/main" val="258714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JSON Data Types</a:t>
            </a:r>
            <a:endParaRPr lang="en-IN" dirty="0"/>
          </a:p>
        </p:txBody>
      </p:sp>
      <p:sp>
        <p:nvSpPr>
          <p:cNvPr id="3" name="Content Placeholder 2"/>
          <p:cNvSpPr>
            <a:spLocks noGrp="1"/>
          </p:cNvSpPr>
          <p:nvPr>
            <p:ph idx="1"/>
          </p:nvPr>
        </p:nvSpPr>
        <p:spPr>
          <a:xfrm>
            <a:off x="2403681" y="1537252"/>
            <a:ext cx="8915400" cy="3777622"/>
          </a:xfrm>
        </p:spPr>
        <p:txBody>
          <a:bodyPr>
            <a:normAutofit/>
          </a:bodyPr>
          <a:lstStyle/>
          <a:p>
            <a:pPr marL="0" indent="0">
              <a:buNone/>
            </a:pPr>
            <a:r>
              <a:rPr lang="en-US" sz="2400" b="1" dirty="0" smtClean="0"/>
              <a:t> </a:t>
            </a:r>
            <a:endParaRPr lang="en-US" sz="2400" b="1" dirty="0"/>
          </a:p>
          <a:p>
            <a:r>
              <a:rPr lang="en-US" sz="2400" dirty="0"/>
              <a:t>JSON supports the following data types:</a:t>
            </a:r>
          </a:p>
        </p:txBody>
      </p:sp>
      <p:graphicFrame>
        <p:nvGraphicFramePr>
          <p:cNvPr id="4" name="Table 3"/>
          <p:cNvGraphicFramePr>
            <a:graphicFrameLocks noGrp="1"/>
          </p:cNvGraphicFramePr>
          <p:nvPr>
            <p:extLst>
              <p:ext uri="{D42A27DB-BD31-4B8C-83A1-F6EECF244321}">
                <p14:modId xmlns:p14="http://schemas.microsoft.com/office/powerpoint/2010/main" val="788147334"/>
              </p:ext>
            </p:extLst>
          </p:nvPr>
        </p:nvGraphicFramePr>
        <p:xfrm>
          <a:off x="2589212" y="3114592"/>
          <a:ext cx="8025780" cy="3200400"/>
        </p:xfrm>
        <a:graphic>
          <a:graphicData uri="http://schemas.openxmlformats.org/drawingml/2006/table">
            <a:tbl>
              <a:tblPr firstRow="1">
                <a:tableStyleId>{74C1A8A3-306A-4EB7-A6B1-4F7E0EB9C5D6}</a:tableStyleId>
              </a:tblPr>
              <a:tblGrid>
                <a:gridCol w="4012890">
                  <a:extLst>
                    <a:ext uri="{9D8B030D-6E8A-4147-A177-3AD203B41FA5}">
                      <a16:colId xmlns:a16="http://schemas.microsoft.com/office/drawing/2014/main" val="1210200111"/>
                    </a:ext>
                  </a:extLst>
                </a:gridCol>
                <a:gridCol w="4012890">
                  <a:extLst>
                    <a:ext uri="{9D8B030D-6E8A-4147-A177-3AD203B41FA5}">
                      <a16:colId xmlns:a16="http://schemas.microsoft.com/office/drawing/2014/main" val="3149287"/>
                    </a:ext>
                  </a:extLst>
                </a:gridCol>
              </a:tblGrid>
              <a:tr h="0">
                <a:tc>
                  <a:txBody>
                    <a:bodyPr/>
                    <a:lstStyle/>
                    <a:p>
                      <a:r>
                        <a:rPr lang="en-IN" sz="2400" dirty="0"/>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Example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5669796"/>
                  </a:ext>
                </a:extLst>
              </a:tr>
              <a:tr h="0">
                <a:tc>
                  <a:txBody>
                    <a:bodyPr/>
                    <a:lstStyle/>
                    <a:p>
                      <a:r>
                        <a:rPr lang="en-IN" sz="2400" dirty="0"/>
                        <a:t>String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"name": </a:t>
                      </a:r>
                      <a:r>
                        <a:rPr lang="en-IN" sz="2400" dirty="0" smtClean="0"/>
                        <a:t>“LULU"</a:t>
                      </a:r>
                      <a:endParaRPr lang="en-IN" sz="2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5965427"/>
                  </a:ext>
                </a:extLst>
              </a:tr>
              <a:tr h="0">
                <a:tc>
                  <a:txBody>
                    <a:bodyPr/>
                    <a:lstStyle/>
                    <a:p>
                      <a:r>
                        <a:rPr lang="en-IN" sz="2400" dirty="0"/>
                        <a:t>Number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a:t>"age":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0098646"/>
                  </a:ext>
                </a:extLst>
              </a:tr>
              <a:tr h="0">
                <a:tc>
                  <a:txBody>
                    <a:bodyPr/>
                    <a:lstStyle/>
                    <a:p>
                      <a:r>
                        <a:rPr lang="en-IN" sz="2400"/>
                        <a:t>Boolean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a:t>"isStudent": 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7581464"/>
                  </a:ext>
                </a:extLst>
              </a:tr>
              <a:tr h="0">
                <a:tc>
                  <a:txBody>
                    <a:bodyPr/>
                    <a:lstStyle/>
                    <a:p>
                      <a:r>
                        <a:rPr lang="en-IN" sz="2400"/>
                        <a:t>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a:t>{ "id": 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2171731"/>
                  </a:ext>
                </a:extLst>
              </a:tr>
              <a:tr h="0">
                <a:tc>
                  <a:txBody>
                    <a:bodyPr/>
                    <a:lstStyle/>
                    <a:p>
                      <a:r>
                        <a:rPr lang="en-IN" sz="2400"/>
                        <a:t>Array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a:t>[10, 20,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2874717"/>
                  </a:ext>
                </a:extLst>
              </a:tr>
              <a:tr h="0">
                <a:tc>
                  <a:txBody>
                    <a:bodyPr/>
                    <a:lstStyle/>
                    <a:p>
                      <a:r>
                        <a:rPr lang="en-IN" sz="2400"/>
                        <a:t>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dirty="0"/>
                        <a:t>"result": null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6249828"/>
                  </a:ext>
                </a:extLst>
              </a:tr>
            </a:tbl>
          </a:graphicData>
        </a:graphic>
      </p:graphicFrame>
    </p:spTree>
    <p:extLst>
      <p:ext uri="{BB962C8B-B14F-4D97-AF65-F5344CB8AC3E}">
        <p14:creationId xmlns:p14="http://schemas.microsoft.com/office/powerpoint/2010/main" val="3517383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pPr marL="0" lvl="0" indent="0" algn="just" defTabSz="914400" eaLnBrk="0" fontAlgn="base" hangingPunct="0">
              <a:spcBef>
                <a:spcPct val="0"/>
              </a:spcBef>
              <a:spcAft>
                <a:spcPct val="0"/>
              </a:spcAft>
              <a:buClrTx/>
              <a:buNone/>
            </a:pPr>
            <a:r>
              <a:rPr lang="en-US" altLang="en-US" sz="2400" b="1" dirty="0">
                <a:solidFill>
                  <a:schemeClr val="tx1"/>
                </a:solidFill>
                <a:latin typeface="Arial" panose="020B0604020202020204" pitchFamily="34" charset="0"/>
              </a:rPr>
              <a:t>Advantages of JSON</a:t>
            </a:r>
          </a:p>
          <a:p>
            <a:pPr marL="400050" lvl="1" indent="0" algn="just" defTabSz="914400" eaLnBrk="0" fontAlgn="base" hangingPunct="0">
              <a:spcBef>
                <a:spcPct val="0"/>
              </a:spcBef>
              <a:spcAft>
                <a:spcPct val="0"/>
              </a:spcAft>
              <a:buClrTx/>
              <a:buFontTx/>
              <a:buChar char="•"/>
            </a:pPr>
            <a:r>
              <a:rPr lang="en-US" altLang="en-US" sz="2200" dirty="0">
                <a:solidFill>
                  <a:schemeClr val="tx1"/>
                </a:solidFill>
                <a:latin typeface="Arial" panose="020B0604020202020204" pitchFamily="34" charset="0"/>
              </a:rPr>
              <a:t>Simple syntax</a:t>
            </a:r>
          </a:p>
          <a:p>
            <a:pPr marL="400050" lvl="1" indent="0" algn="just" defTabSz="914400" eaLnBrk="0" fontAlgn="base" hangingPunct="0">
              <a:spcBef>
                <a:spcPct val="0"/>
              </a:spcBef>
              <a:spcAft>
                <a:spcPct val="0"/>
              </a:spcAft>
              <a:buClrTx/>
              <a:buFontTx/>
              <a:buChar char="•"/>
            </a:pPr>
            <a:r>
              <a:rPr lang="en-US" altLang="en-US" sz="2200" dirty="0">
                <a:solidFill>
                  <a:schemeClr val="tx1"/>
                </a:solidFill>
                <a:latin typeface="Arial" panose="020B0604020202020204" pitchFamily="34" charset="0"/>
              </a:rPr>
              <a:t>Less data size</a:t>
            </a:r>
          </a:p>
          <a:p>
            <a:pPr marL="400050" lvl="1" indent="0" algn="just" defTabSz="914400" eaLnBrk="0" fontAlgn="base" hangingPunct="0">
              <a:spcBef>
                <a:spcPct val="0"/>
              </a:spcBef>
              <a:spcAft>
                <a:spcPct val="0"/>
              </a:spcAft>
              <a:buClrTx/>
              <a:buFontTx/>
              <a:buChar char="•"/>
            </a:pPr>
            <a:r>
              <a:rPr lang="en-US" altLang="en-US" sz="2200" dirty="0">
                <a:solidFill>
                  <a:schemeClr val="tx1"/>
                </a:solidFill>
                <a:latin typeface="Arial" panose="020B0604020202020204" pitchFamily="34" charset="0"/>
              </a:rPr>
              <a:t>Easy to learn</a:t>
            </a:r>
          </a:p>
          <a:p>
            <a:pPr marL="400050" lvl="1" indent="0" algn="just" defTabSz="914400" eaLnBrk="0" fontAlgn="base" hangingPunct="0">
              <a:spcBef>
                <a:spcPct val="0"/>
              </a:spcBef>
              <a:spcAft>
                <a:spcPct val="0"/>
              </a:spcAft>
              <a:buClrTx/>
              <a:buFontTx/>
              <a:buChar char="•"/>
            </a:pPr>
            <a:r>
              <a:rPr lang="en-US" altLang="en-US" sz="2200" dirty="0">
                <a:solidFill>
                  <a:schemeClr val="tx1"/>
                </a:solidFill>
                <a:latin typeface="Arial" panose="020B0604020202020204" pitchFamily="34" charset="0"/>
              </a:rPr>
              <a:t>High </a:t>
            </a:r>
            <a:r>
              <a:rPr lang="en-US" altLang="en-US" sz="2200" dirty="0" smtClean="0">
                <a:solidFill>
                  <a:schemeClr val="tx1"/>
                </a:solidFill>
                <a:latin typeface="Arial" panose="020B0604020202020204" pitchFamily="34" charset="0"/>
              </a:rPr>
              <a:t>performance</a:t>
            </a:r>
          </a:p>
          <a:p>
            <a:pPr marL="0" lvl="0" indent="0" algn="just" defTabSz="914400" eaLnBrk="0" fontAlgn="base" hangingPunct="0">
              <a:spcBef>
                <a:spcPct val="0"/>
              </a:spcBef>
              <a:spcAft>
                <a:spcPct val="0"/>
              </a:spcAft>
              <a:buClrTx/>
              <a:buNone/>
            </a:pPr>
            <a:endParaRPr lang="en-US" altLang="en-US" sz="2400" dirty="0">
              <a:solidFill>
                <a:schemeClr val="tx1"/>
              </a:solidFill>
              <a:latin typeface="Arial" panose="020B0604020202020204" pitchFamily="34" charset="0"/>
            </a:endParaRPr>
          </a:p>
          <a:p>
            <a:pPr marL="0" lvl="0" indent="0" algn="just" defTabSz="914400" eaLnBrk="0" fontAlgn="base" hangingPunct="0">
              <a:spcBef>
                <a:spcPct val="0"/>
              </a:spcBef>
              <a:spcAft>
                <a:spcPct val="0"/>
              </a:spcAft>
              <a:buClrTx/>
              <a:buNone/>
            </a:pPr>
            <a:r>
              <a:rPr lang="en-US" altLang="en-US" sz="2400" b="1" dirty="0" smtClean="0">
                <a:solidFill>
                  <a:schemeClr val="tx1"/>
                </a:solidFill>
                <a:latin typeface="Arial" panose="020B0604020202020204" pitchFamily="34" charset="0"/>
              </a:rPr>
              <a:t>Disadvantages </a:t>
            </a:r>
            <a:r>
              <a:rPr lang="en-US" altLang="en-US" sz="2400" b="1" dirty="0">
                <a:solidFill>
                  <a:schemeClr val="tx1"/>
                </a:solidFill>
                <a:latin typeface="Arial" panose="020B0604020202020204" pitchFamily="34" charset="0"/>
              </a:rPr>
              <a:t>of JSON</a:t>
            </a:r>
          </a:p>
          <a:p>
            <a:pPr marL="400050" lvl="1" indent="0" algn="just" defTabSz="914400" eaLnBrk="0" fontAlgn="base" hangingPunct="0">
              <a:spcBef>
                <a:spcPct val="0"/>
              </a:spcBef>
              <a:spcAft>
                <a:spcPct val="0"/>
              </a:spcAft>
              <a:buClrTx/>
              <a:buFontTx/>
              <a:buChar char="•"/>
            </a:pPr>
            <a:r>
              <a:rPr lang="en-US" altLang="en-US" sz="2200" dirty="0">
                <a:solidFill>
                  <a:schemeClr val="tx1"/>
                </a:solidFill>
                <a:latin typeface="Arial" panose="020B0604020202020204" pitchFamily="34" charset="0"/>
              </a:rPr>
              <a:t>Limited data type support</a:t>
            </a:r>
          </a:p>
          <a:p>
            <a:pPr marL="400050" lvl="1" indent="0" algn="just" defTabSz="914400" eaLnBrk="0" fontAlgn="base" hangingPunct="0">
              <a:spcBef>
                <a:spcPct val="0"/>
              </a:spcBef>
              <a:spcAft>
                <a:spcPct val="0"/>
              </a:spcAft>
              <a:buClrTx/>
              <a:buFontTx/>
              <a:buChar char="•"/>
            </a:pPr>
            <a:r>
              <a:rPr lang="en-US" altLang="en-US" sz="2200" dirty="0">
                <a:solidFill>
                  <a:schemeClr val="tx1"/>
                </a:solidFill>
                <a:latin typeface="Arial" panose="020B0604020202020204" pitchFamily="34" charset="0"/>
              </a:rPr>
              <a:t>No comments allowed</a:t>
            </a:r>
          </a:p>
          <a:p>
            <a:pPr marL="400050" lvl="1" indent="0" algn="just" defTabSz="914400" eaLnBrk="0" fontAlgn="base" hangingPunct="0">
              <a:spcBef>
                <a:spcPct val="0"/>
              </a:spcBef>
              <a:spcAft>
                <a:spcPct val="0"/>
              </a:spcAft>
              <a:buClrTx/>
              <a:buFontTx/>
              <a:buChar char="•"/>
            </a:pPr>
            <a:r>
              <a:rPr lang="en-US" altLang="en-US" sz="2200" dirty="0">
                <a:solidFill>
                  <a:schemeClr val="tx1"/>
                </a:solidFill>
                <a:latin typeface="Arial" panose="020B0604020202020204" pitchFamily="34" charset="0"/>
              </a:rPr>
              <a:t>Not suitable for very complex documents</a:t>
            </a:r>
          </a:p>
          <a:p>
            <a:pPr marL="0" lvl="0" indent="0" algn="just" defTabSz="914400" eaLnBrk="0" fontAlgn="base" hangingPunct="0">
              <a:spcBef>
                <a:spcPct val="0"/>
              </a:spcBef>
              <a:spcAft>
                <a:spcPct val="0"/>
              </a:spcAft>
              <a:buClrTx/>
              <a:buNone/>
            </a:pPr>
            <a:endParaRPr lang="en-US" altLang="en-US" sz="2400" dirty="0">
              <a:solidFill>
                <a:schemeClr val="tx1"/>
              </a:solidFill>
              <a:latin typeface="Arial" panose="020B0604020202020204" pitchFamily="34" charset="0"/>
            </a:endParaRPr>
          </a:p>
        </p:txBody>
      </p:sp>
      <p:sp>
        <p:nvSpPr>
          <p:cNvPr id="5" name="Rectangle 2"/>
          <p:cNvSpPr>
            <a:spLocks noChangeArrowheads="1"/>
          </p:cNvSpPr>
          <p:nvPr/>
        </p:nvSpPr>
        <p:spPr bwMode="auto">
          <a:xfrm>
            <a:off x="0" y="45720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428940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INDENT IN ANDROID</a:t>
            </a:r>
            <a:endParaRPr lang="en-IN" dirty="0"/>
          </a:p>
        </p:txBody>
      </p:sp>
      <p:sp>
        <p:nvSpPr>
          <p:cNvPr id="3" name="Content Placeholder 2"/>
          <p:cNvSpPr>
            <a:spLocks noGrp="1"/>
          </p:cNvSpPr>
          <p:nvPr>
            <p:ph idx="1"/>
          </p:nvPr>
        </p:nvSpPr>
        <p:spPr/>
        <p:txBody>
          <a:bodyPr>
            <a:normAutofit/>
          </a:bodyPr>
          <a:lstStyle/>
          <a:p>
            <a:pPr algn="just"/>
            <a:r>
              <a:rPr lang="en-US" sz="2800" dirty="0"/>
              <a:t>In </a:t>
            </a:r>
            <a:r>
              <a:rPr lang="en-US" sz="2800" b="1" dirty="0"/>
              <a:t>Android</a:t>
            </a:r>
            <a:r>
              <a:rPr lang="en-US" sz="2800" dirty="0"/>
              <a:t>, </a:t>
            </a:r>
            <a:r>
              <a:rPr lang="en-US" sz="2800" b="1" dirty="0"/>
              <a:t>indent</a:t>
            </a:r>
            <a:r>
              <a:rPr lang="en-US" sz="2800" dirty="0"/>
              <a:t> refers to the </a:t>
            </a:r>
            <a:r>
              <a:rPr lang="en-US" sz="2800" b="1" dirty="0"/>
              <a:t>space (blank area) given from the left, right, top, or bottom of a view or text</a:t>
            </a:r>
            <a:r>
              <a:rPr lang="en-US" sz="2800" dirty="0"/>
              <a:t> to improve readability and layout alignment.</a:t>
            </a:r>
            <a:endParaRPr lang="en-IN" sz="2800" dirty="0"/>
          </a:p>
        </p:txBody>
      </p:sp>
    </p:spTree>
    <p:extLst>
      <p:ext uri="{BB962C8B-B14F-4D97-AF65-F5344CB8AC3E}">
        <p14:creationId xmlns:p14="http://schemas.microsoft.com/office/powerpoint/2010/main" val="3017768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1864" y="200040"/>
            <a:ext cx="8911687" cy="1280890"/>
          </a:xfrm>
        </p:spPr>
        <p:txBody>
          <a:bodyPr/>
          <a:lstStyle/>
          <a:p>
            <a:r>
              <a:rPr lang="en-US" b="1" dirty="0"/>
              <a:t>1. Indent in Code (Formatting)</a:t>
            </a:r>
          </a:p>
        </p:txBody>
      </p:sp>
      <p:sp>
        <p:nvSpPr>
          <p:cNvPr id="3" name="Content Placeholder 2"/>
          <p:cNvSpPr>
            <a:spLocks noGrp="1"/>
          </p:cNvSpPr>
          <p:nvPr>
            <p:ph idx="1"/>
          </p:nvPr>
        </p:nvSpPr>
        <p:spPr>
          <a:xfrm>
            <a:off x="2039446" y="1046920"/>
            <a:ext cx="9276522" cy="5811080"/>
          </a:xfrm>
        </p:spPr>
        <p:txBody>
          <a:bodyPr>
            <a:normAutofit/>
          </a:bodyPr>
          <a:lstStyle/>
          <a:p>
            <a:pPr algn="just"/>
            <a:r>
              <a:rPr lang="en-US" sz="2800" dirty="0" smtClean="0"/>
              <a:t>Indentation </a:t>
            </a:r>
            <a:r>
              <a:rPr lang="en-US" sz="2800" dirty="0"/>
              <a:t>means adding spaces or tabs at the beginning of lines in </a:t>
            </a:r>
            <a:r>
              <a:rPr lang="en-US" sz="2800" b="1" dirty="0"/>
              <a:t>XML or Java/</a:t>
            </a:r>
            <a:r>
              <a:rPr lang="en-US" sz="2800" b="1" dirty="0" err="1"/>
              <a:t>Kotlin</a:t>
            </a:r>
            <a:r>
              <a:rPr lang="en-US" sz="2800" b="1" dirty="0"/>
              <a:t> code</a:t>
            </a:r>
            <a:r>
              <a:rPr lang="en-US" sz="2800" dirty="0"/>
              <a:t> to make the structure clear and readable</a:t>
            </a:r>
            <a:r>
              <a:rPr lang="en-US" sz="2800" dirty="0" smtClean="0"/>
              <a:t>.</a:t>
            </a:r>
          </a:p>
          <a:p>
            <a:pPr marL="914400" lvl="2" indent="0" algn="just">
              <a:buNone/>
            </a:pPr>
            <a:r>
              <a:rPr lang="en-US" sz="2000" dirty="0"/>
              <a:t>&lt;</a:t>
            </a:r>
            <a:r>
              <a:rPr lang="en-US" sz="2000" dirty="0" err="1"/>
              <a:t>LinearLayout</a:t>
            </a:r>
            <a:endParaRPr lang="en-US" sz="2000" dirty="0"/>
          </a:p>
          <a:p>
            <a:pPr marL="914400" lvl="2" indent="0" algn="just">
              <a:buNone/>
            </a:pPr>
            <a:r>
              <a:rPr lang="en-US" sz="2000" dirty="0"/>
              <a:t>    </a:t>
            </a:r>
            <a:r>
              <a:rPr lang="en-US" sz="2000" dirty="0" err="1"/>
              <a:t>android:layout_width</a:t>
            </a:r>
            <a:r>
              <a:rPr lang="en-US" sz="2000" dirty="0"/>
              <a:t>="</a:t>
            </a:r>
            <a:r>
              <a:rPr lang="en-US" sz="2000" dirty="0" err="1"/>
              <a:t>match_parent</a:t>
            </a:r>
            <a:r>
              <a:rPr lang="en-US" sz="2000" dirty="0"/>
              <a:t>"</a:t>
            </a:r>
          </a:p>
          <a:p>
            <a:pPr marL="914400" lvl="2" indent="0" algn="just">
              <a:buNone/>
            </a:pPr>
            <a:r>
              <a:rPr lang="en-US" sz="2000" dirty="0"/>
              <a:t>    </a:t>
            </a:r>
            <a:r>
              <a:rPr lang="en-US" sz="2000" dirty="0" err="1"/>
              <a:t>android:layout_height</a:t>
            </a:r>
            <a:r>
              <a:rPr lang="en-US" sz="2000" dirty="0"/>
              <a:t>="</a:t>
            </a:r>
            <a:r>
              <a:rPr lang="en-US" sz="2000" dirty="0" err="1"/>
              <a:t>wrap_content</a:t>
            </a:r>
            <a:r>
              <a:rPr lang="en-US" sz="2000" dirty="0" smtClean="0"/>
              <a:t>"&gt;</a:t>
            </a:r>
          </a:p>
          <a:p>
            <a:pPr marL="914400" lvl="2" indent="0" algn="just">
              <a:buNone/>
            </a:pPr>
            <a:endParaRPr lang="en-US" sz="2000" dirty="0"/>
          </a:p>
          <a:p>
            <a:pPr marL="914400" lvl="2" indent="0" algn="just">
              <a:buNone/>
            </a:pPr>
            <a:r>
              <a:rPr lang="en-US" sz="2000" dirty="0"/>
              <a:t>    &lt;</a:t>
            </a:r>
            <a:r>
              <a:rPr lang="en-US" sz="2000" dirty="0" err="1"/>
              <a:t>TextView</a:t>
            </a:r>
            <a:endParaRPr lang="en-US" sz="2000" dirty="0"/>
          </a:p>
          <a:p>
            <a:pPr marL="914400" lvl="2" indent="0" algn="just">
              <a:buNone/>
            </a:pPr>
            <a:r>
              <a:rPr lang="en-US" sz="2000" dirty="0"/>
              <a:t>        </a:t>
            </a:r>
            <a:r>
              <a:rPr lang="en-US" sz="2000" dirty="0" err="1"/>
              <a:t>android:layout_width</a:t>
            </a:r>
            <a:r>
              <a:rPr lang="en-US" sz="2000" dirty="0"/>
              <a:t>="</a:t>
            </a:r>
            <a:r>
              <a:rPr lang="en-US" sz="2000" dirty="0" err="1"/>
              <a:t>wrap_content</a:t>
            </a:r>
            <a:r>
              <a:rPr lang="en-US" sz="2000" dirty="0"/>
              <a:t>"</a:t>
            </a:r>
          </a:p>
          <a:p>
            <a:pPr marL="914400" lvl="2" indent="0" algn="just">
              <a:buNone/>
            </a:pPr>
            <a:r>
              <a:rPr lang="en-US" sz="2000" dirty="0"/>
              <a:t>        </a:t>
            </a:r>
            <a:r>
              <a:rPr lang="en-US" sz="2000" dirty="0" err="1"/>
              <a:t>android:layout_height</a:t>
            </a:r>
            <a:r>
              <a:rPr lang="en-US" sz="2000" dirty="0"/>
              <a:t>="</a:t>
            </a:r>
            <a:r>
              <a:rPr lang="en-US" sz="2000" dirty="0" err="1"/>
              <a:t>wrap_content</a:t>
            </a:r>
            <a:r>
              <a:rPr lang="en-US" sz="2000" dirty="0"/>
              <a:t>"</a:t>
            </a:r>
          </a:p>
          <a:p>
            <a:pPr marL="914400" lvl="2" indent="0" algn="just">
              <a:buNone/>
            </a:pPr>
            <a:r>
              <a:rPr lang="en-US" sz="2000" dirty="0"/>
              <a:t>        </a:t>
            </a:r>
            <a:r>
              <a:rPr lang="en-US" sz="2000" dirty="0" err="1"/>
              <a:t>android:text</a:t>
            </a:r>
            <a:r>
              <a:rPr lang="en-US" sz="2000" dirty="0"/>
              <a:t>="Hello Android"/&gt;</a:t>
            </a:r>
          </a:p>
          <a:p>
            <a:pPr marL="914400" lvl="2" indent="0" algn="just">
              <a:buNone/>
            </a:pPr>
            <a:r>
              <a:rPr lang="en-US" sz="2000" dirty="0"/>
              <a:t>&lt;/</a:t>
            </a:r>
            <a:r>
              <a:rPr lang="en-US" sz="2000" dirty="0" err="1"/>
              <a:t>LinearLayout</a:t>
            </a:r>
            <a:r>
              <a:rPr lang="en-US" sz="2000" dirty="0" smtClean="0"/>
              <a:t>&gt;</a:t>
            </a:r>
          </a:p>
          <a:p>
            <a:pPr marL="914400" lvl="2" indent="0" algn="just">
              <a:buNone/>
            </a:pPr>
            <a:r>
              <a:rPr lang="en-US" altLang="en-US" sz="1500" dirty="0" smtClean="0">
                <a:solidFill>
                  <a:schemeClr val="tx1"/>
                </a:solidFill>
                <a:latin typeface="Arial" panose="020B0604020202020204" pitchFamily="34" charset="0"/>
              </a:rPr>
              <a:t>This </a:t>
            </a:r>
            <a:r>
              <a:rPr lang="en-US" altLang="en-US" sz="1500" dirty="0">
                <a:solidFill>
                  <a:schemeClr val="tx1"/>
                </a:solidFill>
                <a:latin typeface="Arial" panose="020B0604020202020204" pitchFamily="34" charset="0"/>
              </a:rPr>
              <a:t>indent shows that </a:t>
            </a:r>
            <a:r>
              <a:rPr lang="en-US" altLang="en-US" sz="1500" dirty="0" err="1">
                <a:solidFill>
                  <a:schemeClr val="tx1"/>
                </a:solidFill>
                <a:latin typeface="Arial Unicode MS" panose="020B0604020202020204" pitchFamily="34" charset="-128"/>
              </a:rPr>
              <a:t>TextView</a:t>
            </a:r>
            <a:r>
              <a:rPr lang="en-US" altLang="en-US" sz="1500" dirty="0">
                <a:solidFill>
                  <a:schemeClr val="tx1"/>
                </a:solidFill>
              </a:rPr>
              <a:t> is inside </a:t>
            </a:r>
            <a:r>
              <a:rPr lang="en-US" altLang="en-US" sz="1500" dirty="0" err="1">
                <a:solidFill>
                  <a:schemeClr val="tx1"/>
                </a:solidFill>
                <a:latin typeface="Arial Unicode MS" panose="020B0604020202020204" pitchFamily="34" charset="-128"/>
              </a:rPr>
              <a:t>LinearLayout</a:t>
            </a:r>
            <a:r>
              <a:rPr lang="en-US" altLang="en-US" sz="1500" dirty="0">
                <a:solidFill>
                  <a:schemeClr val="tx1"/>
                </a:solidFill>
              </a:rPr>
              <a:t>. </a:t>
            </a:r>
            <a:endParaRPr lang="en-US" altLang="en-US" sz="1500" dirty="0">
              <a:solidFill>
                <a:schemeClr val="tx1"/>
              </a:solidFill>
              <a:latin typeface="Arial" panose="020B0604020202020204" pitchFamily="34" charset="0"/>
            </a:endParaRPr>
          </a:p>
          <a:p>
            <a:pPr marL="914400" lvl="2" indent="0" algn="just">
              <a:buNone/>
            </a:pPr>
            <a:endParaRPr lang="en-US" sz="2000" dirty="0"/>
          </a:p>
          <a:p>
            <a:pPr algn="just"/>
            <a:endParaRPr lang="en-US" sz="2800" dirty="0"/>
          </a:p>
        </p:txBody>
      </p:sp>
    </p:spTree>
    <p:extLst>
      <p:ext uri="{BB962C8B-B14F-4D97-AF65-F5344CB8AC3E}">
        <p14:creationId xmlns:p14="http://schemas.microsoft.com/office/powerpoint/2010/main" val="1833442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Indent in UI (Layout / Design)</a:t>
            </a:r>
            <a:endParaRPr lang="en-IN" dirty="0"/>
          </a:p>
        </p:txBody>
      </p:sp>
      <p:sp>
        <p:nvSpPr>
          <p:cNvPr id="3" name="Content Placeholder 2"/>
          <p:cNvSpPr>
            <a:spLocks noGrp="1"/>
          </p:cNvSpPr>
          <p:nvPr>
            <p:ph idx="1"/>
          </p:nvPr>
        </p:nvSpPr>
        <p:spPr>
          <a:xfrm>
            <a:off x="2589212" y="2133600"/>
            <a:ext cx="8915400" cy="4452730"/>
          </a:xfrm>
        </p:spPr>
        <p:txBody>
          <a:bodyPr>
            <a:noAutofit/>
          </a:bodyPr>
          <a:lstStyle/>
          <a:p>
            <a:pPr marL="0" indent="0" algn="just">
              <a:buNone/>
            </a:pPr>
            <a:r>
              <a:rPr lang="en-US" sz="2800" b="1" dirty="0"/>
              <a:t>(a) Padding – Inside Indent</a:t>
            </a:r>
          </a:p>
          <a:p>
            <a:pPr lvl="1" algn="just"/>
            <a:r>
              <a:rPr lang="en-US" sz="2400" dirty="0"/>
              <a:t>Space </a:t>
            </a:r>
            <a:r>
              <a:rPr lang="en-US" sz="2400" b="1" dirty="0"/>
              <a:t>inside</a:t>
            </a:r>
            <a:r>
              <a:rPr lang="en-US" sz="2400" dirty="0"/>
              <a:t> a view, between the content and its border</a:t>
            </a:r>
            <a:r>
              <a:rPr lang="en-US" sz="2400" dirty="0" smtClean="0"/>
              <a:t>.</a:t>
            </a:r>
            <a:endParaRPr lang="en-US" sz="2400" dirty="0"/>
          </a:p>
          <a:p>
            <a:pPr marL="1371600" lvl="3" indent="0" algn="just">
              <a:buNone/>
            </a:pPr>
            <a:r>
              <a:rPr lang="en-US" sz="2000" dirty="0" err="1"/>
              <a:t>android:paddingLeft</a:t>
            </a:r>
            <a:r>
              <a:rPr lang="en-US" sz="2000" dirty="0"/>
              <a:t>="16dp"</a:t>
            </a:r>
          </a:p>
          <a:p>
            <a:pPr marL="1371600" lvl="3" indent="0" algn="just">
              <a:buNone/>
            </a:pPr>
            <a:r>
              <a:rPr lang="en-US" sz="2000" dirty="0" err="1"/>
              <a:t>android:padding</a:t>
            </a:r>
            <a:r>
              <a:rPr lang="en-US" sz="2000" dirty="0"/>
              <a:t>="</a:t>
            </a:r>
            <a:r>
              <a:rPr lang="en-US" sz="2000" dirty="0" smtClean="0"/>
              <a:t>16dp</a:t>
            </a:r>
            <a:r>
              <a:rPr lang="en-US" sz="1800" dirty="0" smtClean="0"/>
              <a:t>“</a:t>
            </a:r>
          </a:p>
          <a:p>
            <a:pPr marL="0" indent="0" algn="just">
              <a:buNone/>
            </a:pPr>
            <a:r>
              <a:rPr lang="en-US" sz="2800" b="1" dirty="0"/>
              <a:t>(b) Margin – Outside Indent</a:t>
            </a:r>
          </a:p>
          <a:p>
            <a:pPr lvl="1" algn="just"/>
            <a:r>
              <a:rPr lang="en-US" sz="2400" dirty="0"/>
              <a:t>Space </a:t>
            </a:r>
            <a:r>
              <a:rPr lang="en-US" sz="2400" b="1" dirty="0"/>
              <a:t>outside</a:t>
            </a:r>
            <a:r>
              <a:rPr lang="en-US" sz="2400" dirty="0"/>
              <a:t> a view, between it and other views</a:t>
            </a:r>
            <a:r>
              <a:rPr lang="en-US" sz="2400" dirty="0" smtClean="0"/>
              <a:t>.</a:t>
            </a:r>
          </a:p>
          <a:p>
            <a:pPr marL="1371600" lvl="3" indent="0" algn="just">
              <a:buNone/>
            </a:pPr>
            <a:r>
              <a:rPr lang="en-US" sz="2000" dirty="0" err="1"/>
              <a:t>android:layout_marginLeft</a:t>
            </a:r>
            <a:r>
              <a:rPr lang="en-US" sz="2000" dirty="0"/>
              <a:t>="16dp"</a:t>
            </a:r>
          </a:p>
          <a:p>
            <a:pPr marL="1371600" lvl="3" indent="0" algn="just">
              <a:buNone/>
            </a:pPr>
            <a:r>
              <a:rPr lang="en-US" sz="2000" dirty="0" err="1"/>
              <a:t>android:layout_margin</a:t>
            </a:r>
            <a:r>
              <a:rPr lang="en-US" sz="2000" dirty="0"/>
              <a:t>="16dp"</a:t>
            </a:r>
          </a:p>
          <a:p>
            <a:pPr lvl="1" algn="just"/>
            <a:endParaRPr lang="en-US" sz="2400" dirty="0"/>
          </a:p>
          <a:p>
            <a:pPr marL="1371600" lvl="3" indent="0" algn="just">
              <a:buNone/>
            </a:pPr>
            <a:endParaRPr lang="en-US" sz="1800" dirty="0"/>
          </a:p>
          <a:p>
            <a:pPr marL="1371600" lvl="3" indent="0" algn="just">
              <a:buNone/>
            </a:pPr>
            <a:endParaRPr lang="en-US" sz="1800" dirty="0" smtClean="0"/>
          </a:p>
          <a:p>
            <a:pPr marL="1371600" lvl="3" indent="0" algn="just">
              <a:buNone/>
            </a:pPr>
            <a:endParaRPr lang="en-US" sz="1800" dirty="0"/>
          </a:p>
        </p:txBody>
      </p:sp>
    </p:spTree>
    <p:extLst>
      <p:ext uri="{BB962C8B-B14F-4D97-AF65-F5344CB8AC3E}">
        <p14:creationId xmlns:p14="http://schemas.microsoft.com/office/powerpoint/2010/main" val="2908175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SQLite Database in Android</a:t>
            </a:r>
          </a:p>
        </p:txBody>
      </p:sp>
      <p:sp>
        <p:nvSpPr>
          <p:cNvPr id="3" name="Content Placeholder 2"/>
          <p:cNvSpPr>
            <a:spLocks noGrp="1"/>
          </p:cNvSpPr>
          <p:nvPr>
            <p:ph idx="1"/>
          </p:nvPr>
        </p:nvSpPr>
        <p:spPr>
          <a:xfrm>
            <a:off x="2411896" y="1616765"/>
            <a:ext cx="9450525" cy="3777622"/>
          </a:xfrm>
        </p:spPr>
        <p:txBody>
          <a:bodyPr>
            <a:noAutofit/>
          </a:bodyPr>
          <a:lstStyle/>
          <a:p>
            <a:pPr algn="just"/>
            <a:r>
              <a:rPr lang="en-US" sz="2400" dirty="0">
                <a:solidFill>
                  <a:schemeClr val="tx1"/>
                </a:solidFill>
              </a:rPr>
              <a:t>Android applications often need to store data permanently so that the data is not lost when the application is closed. For this purpose, Android provides </a:t>
            </a:r>
            <a:r>
              <a:rPr lang="en-US" sz="2400" b="1" dirty="0">
                <a:solidFill>
                  <a:schemeClr val="tx1"/>
                </a:solidFill>
              </a:rPr>
              <a:t>SQLite</a:t>
            </a:r>
            <a:r>
              <a:rPr lang="en-US" sz="2400" dirty="0">
                <a:solidFill>
                  <a:schemeClr val="tx1"/>
                </a:solidFill>
              </a:rPr>
              <a:t>, which is a </a:t>
            </a:r>
            <a:r>
              <a:rPr lang="en-US" sz="2400" b="1" dirty="0">
                <a:solidFill>
                  <a:schemeClr val="tx1"/>
                </a:solidFill>
              </a:rPr>
              <a:t>lightweight, relational database management system</a:t>
            </a:r>
            <a:r>
              <a:rPr lang="en-US" sz="2400" dirty="0">
                <a:solidFill>
                  <a:schemeClr val="tx1"/>
                </a:solidFill>
              </a:rPr>
              <a:t>. </a:t>
            </a:r>
            <a:endParaRPr lang="en-US" sz="2400" dirty="0" smtClean="0">
              <a:solidFill>
                <a:schemeClr val="tx1"/>
              </a:solidFill>
            </a:endParaRPr>
          </a:p>
          <a:p>
            <a:pPr algn="just"/>
            <a:r>
              <a:rPr lang="en-US" sz="2400" dirty="0" smtClean="0">
                <a:solidFill>
                  <a:schemeClr val="tx1"/>
                </a:solidFill>
              </a:rPr>
              <a:t>SQLite </a:t>
            </a:r>
            <a:r>
              <a:rPr lang="en-US" sz="2400" dirty="0">
                <a:solidFill>
                  <a:schemeClr val="tx1"/>
                </a:solidFill>
              </a:rPr>
              <a:t>is </a:t>
            </a:r>
            <a:r>
              <a:rPr lang="en-US" sz="2400" b="1" dirty="0">
                <a:solidFill>
                  <a:schemeClr val="tx1"/>
                </a:solidFill>
              </a:rPr>
              <a:t>embedded directly into the Android operating system</a:t>
            </a:r>
            <a:r>
              <a:rPr lang="en-US" sz="2400" dirty="0">
                <a:solidFill>
                  <a:schemeClr val="tx1"/>
                </a:solidFill>
              </a:rPr>
              <a:t>, so no separate database server or installation is required.</a:t>
            </a:r>
          </a:p>
          <a:p>
            <a:pPr algn="just"/>
            <a:r>
              <a:rPr lang="en-US" sz="2400" dirty="0">
                <a:solidFill>
                  <a:schemeClr val="tx1"/>
                </a:solidFill>
              </a:rPr>
              <a:t>SQLite uses </a:t>
            </a:r>
            <a:r>
              <a:rPr lang="en-US" sz="2400" b="1" dirty="0">
                <a:solidFill>
                  <a:schemeClr val="tx1"/>
                </a:solidFill>
              </a:rPr>
              <a:t>SQL (Structured Query Language)</a:t>
            </a:r>
            <a:r>
              <a:rPr lang="en-US" sz="2400" dirty="0">
                <a:solidFill>
                  <a:schemeClr val="tx1"/>
                </a:solidFill>
              </a:rPr>
              <a:t> for performing database operations such as storing, retrieving, updating, and deleting data. </a:t>
            </a:r>
            <a:endParaRPr lang="en-US" sz="2400" dirty="0" smtClean="0">
              <a:solidFill>
                <a:schemeClr val="tx1"/>
              </a:solidFill>
            </a:endParaRPr>
          </a:p>
          <a:p>
            <a:pPr algn="just"/>
            <a:r>
              <a:rPr lang="en-US" sz="2400" dirty="0" smtClean="0">
                <a:solidFill>
                  <a:schemeClr val="tx1"/>
                </a:solidFill>
              </a:rPr>
              <a:t>It </a:t>
            </a:r>
            <a:r>
              <a:rPr lang="en-US" sz="2400" dirty="0">
                <a:solidFill>
                  <a:schemeClr val="tx1"/>
                </a:solidFill>
              </a:rPr>
              <a:t>is mainly used for </a:t>
            </a:r>
            <a:r>
              <a:rPr lang="en-US" sz="2400" b="1" dirty="0">
                <a:solidFill>
                  <a:schemeClr val="tx1"/>
                </a:solidFill>
              </a:rPr>
              <a:t>local data storage</a:t>
            </a:r>
            <a:r>
              <a:rPr lang="en-US" sz="2400" dirty="0">
                <a:solidFill>
                  <a:schemeClr val="tx1"/>
                </a:solidFill>
              </a:rPr>
              <a:t> in Android applications.</a:t>
            </a:r>
          </a:p>
        </p:txBody>
      </p:sp>
    </p:spTree>
    <p:extLst>
      <p:ext uri="{BB962C8B-B14F-4D97-AF65-F5344CB8AC3E}">
        <p14:creationId xmlns:p14="http://schemas.microsoft.com/office/powerpoint/2010/main" val="4270037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of SQLite </a:t>
            </a:r>
          </a:p>
        </p:txBody>
      </p:sp>
      <p:sp>
        <p:nvSpPr>
          <p:cNvPr id="3" name="Content Placeholder 2"/>
          <p:cNvSpPr>
            <a:spLocks noGrp="1"/>
          </p:cNvSpPr>
          <p:nvPr>
            <p:ph idx="1"/>
          </p:nvPr>
        </p:nvSpPr>
        <p:spPr>
          <a:xfrm>
            <a:off x="2592924" y="1470991"/>
            <a:ext cx="8911687" cy="5261113"/>
          </a:xfrm>
        </p:spPr>
        <p:txBody>
          <a:bodyPr>
            <a:normAutofit/>
          </a:bodyPr>
          <a:lstStyle/>
          <a:p>
            <a:r>
              <a:rPr lang="en-US" sz="2800" dirty="0">
                <a:solidFill>
                  <a:schemeClr val="tx1"/>
                </a:solidFill>
              </a:rPr>
              <a:t>SQLite has several important features that make it suitable for mobile applications:</a:t>
            </a:r>
          </a:p>
          <a:p>
            <a:pPr lvl="1"/>
            <a:r>
              <a:rPr lang="en-US" sz="2400" dirty="0">
                <a:solidFill>
                  <a:schemeClr val="tx1"/>
                </a:solidFill>
              </a:rPr>
              <a:t>It is </a:t>
            </a:r>
            <a:r>
              <a:rPr lang="en-US" sz="2400" b="1" dirty="0" err="1">
                <a:solidFill>
                  <a:schemeClr val="tx1"/>
                </a:solidFill>
              </a:rPr>
              <a:t>serverless</a:t>
            </a:r>
            <a:r>
              <a:rPr lang="en-US" sz="2400" dirty="0">
                <a:solidFill>
                  <a:schemeClr val="tx1"/>
                </a:solidFill>
              </a:rPr>
              <a:t>, meaning it does not need a separate server.</a:t>
            </a:r>
          </a:p>
          <a:p>
            <a:pPr lvl="1"/>
            <a:r>
              <a:rPr lang="en-US" sz="2400" dirty="0">
                <a:solidFill>
                  <a:schemeClr val="tx1"/>
                </a:solidFill>
              </a:rPr>
              <a:t>It requires </a:t>
            </a:r>
            <a:r>
              <a:rPr lang="en-US" sz="2400" b="1" dirty="0">
                <a:solidFill>
                  <a:schemeClr val="tx1"/>
                </a:solidFill>
              </a:rPr>
              <a:t>zero configuration</a:t>
            </a:r>
            <a:r>
              <a:rPr lang="en-US" sz="2400" dirty="0">
                <a:solidFill>
                  <a:schemeClr val="tx1"/>
                </a:solidFill>
              </a:rPr>
              <a:t>.</a:t>
            </a:r>
          </a:p>
          <a:p>
            <a:pPr lvl="1"/>
            <a:r>
              <a:rPr lang="en-US" sz="2400" dirty="0">
                <a:solidFill>
                  <a:schemeClr val="tx1"/>
                </a:solidFill>
              </a:rPr>
              <a:t>It is </a:t>
            </a:r>
            <a:r>
              <a:rPr lang="en-US" sz="2400" b="1" dirty="0">
                <a:solidFill>
                  <a:schemeClr val="tx1"/>
                </a:solidFill>
              </a:rPr>
              <a:t>fast and efficient</a:t>
            </a:r>
            <a:r>
              <a:rPr lang="en-US" sz="2400" dirty="0">
                <a:solidFill>
                  <a:schemeClr val="tx1"/>
                </a:solidFill>
              </a:rPr>
              <a:t> for small and medium-sized data.</a:t>
            </a:r>
          </a:p>
          <a:p>
            <a:pPr lvl="1"/>
            <a:r>
              <a:rPr lang="en-US" sz="2400" dirty="0">
                <a:solidFill>
                  <a:schemeClr val="tx1"/>
                </a:solidFill>
              </a:rPr>
              <a:t>It supports </a:t>
            </a:r>
            <a:r>
              <a:rPr lang="en-US" sz="2400" b="1" dirty="0">
                <a:solidFill>
                  <a:schemeClr val="tx1"/>
                </a:solidFill>
              </a:rPr>
              <a:t>standard SQL commands</a:t>
            </a:r>
            <a:r>
              <a:rPr lang="en-US" sz="2400" dirty="0">
                <a:solidFill>
                  <a:schemeClr val="tx1"/>
                </a:solidFill>
              </a:rPr>
              <a:t>.</a:t>
            </a:r>
          </a:p>
          <a:p>
            <a:pPr lvl="1"/>
            <a:r>
              <a:rPr lang="en-US" sz="2400" dirty="0">
                <a:solidFill>
                  <a:schemeClr val="tx1"/>
                </a:solidFill>
              </a:rPr>
              <a:t>It occupies </a:t>
            </a:r>
            <a:r>
              <a:rPr lang="en-US" sz="2400" b="1" dirty="0">
                <a:solidFill>
                  <a:schemeClr val="tx1"/>
                </a:solidFill>
              </a:rPr>
              <a:t>very less memory</a:t>
            </a:r>
            <a:r>
              <a:rPr lang="en-US" sz="2400" dirty="0">
                <a:solidFill>
                  <a:schemeClr val="tx1"/>
                </a:solidFill>
              </a:rPr>
              <a:t>.</a:t>
            </a:r>
          </a:p>
          <a:p>
            <a:pPr lvl="1"/>
            <a:r>
              <a:rPr lang="en-US" sz="2400" dirty="0">
                <a:solidFill>
                  <a:schemeClr val="tx1"/>
                </a:solidFill>
              </a:rPr>
              <a:t>It supports </a:t>
            </a:r>
            <a:r>
              <a:rPr lang="en-US" sz="2400" b="1" dirty="0">
                <a:solidFill>
                  <a:schemeClr val="tx1"/>
                </a:solidFill>
              </a:rPr>
              <a:t>ACID properties</a:t>
            </a:r>
            <a:r>
              <a:rPr lang="en-US" sz="2400" dirty="0">
                <a:solidFill>
                  <a:schemeClr val="tx1"/>
                </a:solidFill>
              </a:rPr>
              <a:t>, which ensure data reliability.</a:t>
            </a:r>
          </a:p>
          <a:p>
            <a:pPr lvl="1"/>
            <a:r>
              <a:rPr lang="en-US" sz="2400" dirty="0">
                <a:solidFill>
                  <a:schemeClr val="tx1"/>
                </a:solidFill>
              </a:rPr>
              <a:t>It works </a:t>
            </a:r>
            <a:r>
              <a:rPr lang="en-US" sz="2400" b="1" dirty="0">
                <a:solidFill>
                  <a:schemeClr val="tx1"/>
                </a:solidFill>
              </a:rPr>
              <a:t>offline</a:t>
            </a:r>
            <a:r>
              <a:rPr lang="en-US" sz="2400" dirty="0">
                <a:solidFill>
                  <a:schemeClr val="tx1"/>
                </a:solidFill>
              </a:rPr>
              <a:t>, without internet connection.</a:t>
            </a:r>
          </a:p>
        </p:txBody>
      </p:sp>
    </p:spTree>
    <p:extLst>
      <p:ext uri="{BB962C8B-B14F-4D97-AF65-F5344CB8AC3E}">
        <p14:creationId xmlns:p14="http://schemas.microsoft.com/office/powerpoint/2010/main" val="3901777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SQLite Architecture in Android</a:t>
            </a:r>
          </a:p>
        </p:txBody>
      </p:sp>
      <p:sp>
        <p:nvSpPr>
          <p:cNvPr id="3" name="Content Placeholder 2"/>
          <p:cNvSpPr>
            <a:spLocks noGrp="1"/>
          </p:cNvSpPr>
          <p:nvPr>
            <p:ph idx="1"/>
          </p:nvPr>
        </p:nvSpPr>
        <p:spPr>
          <a:xfrm>
            <a:off x="2443438" y="1404731"/>
            <a:ext cx="8915400" cy="3777622"/>
          </a:xfrm>
        </p:spPr>
        <p:txBody>
          <a:bodyPr>
            <a:noAutofit/>
          </a:bodyPr>
          <a:lstStyle/>
          <a:p>
            <a:pPr algn="just"/>
            <a:r>
              <a:rPr lang="en-US" sz="2800" dirty="0" smtClean="0">
                <a:solidFill>
                  <a:schemeClr val="tx1"/>
                </a:solidFill>
              </a:rPr>
              <a:t>Android </a:t>
            </a:r>
            <a:r>
              <a:rPr lang="en-US" sz="2800" dirty="0">
                <a:solidFill>
                  <a:schemeClr val="tx1"/>
                </a:solidFill>
              </a:rPr>
              <a:t>provides built-in classes to work with SQLite databases. The important components are:</a:t>
            </a:r>
          </a:p>
          <a:p>
            <a:pPr lvl="1" algn="just"/>
            <a:r>
              <a:rPr lang="en-US" sz="2400" b="1" dirty="0" err="1">
                <a:solidFill>
                  <a:schemeClr val="tx1"/>
                </a:solidFill>
              </a:rPr>
              <a:t>SQLiteOpenHelper</a:t>
            </a:r>
            <a:r>
              <a:rPr lang="en-US" sz="2400" dirty="0">
                <a:solidFill>
                  <a:schemeClr val="tx1"/>
                </a:solidFill>
              </a:rPr>
              <a:t> – Helps in creating and upgrading the database.</a:t>
            </a:r>
          </a:p>
          <a:p>
            <a:pPr lvl="1" algn="just"/>
            <a:r>
              <a:rPr lang="en-US" sz="2400" b="1" dirty="0" err="1">
                <a:solidFill>
                  <a:schemeClr val="tx1"/>
                </a:solidFill>
              </a:rPr>
              <a:t>SQLiteDatabase</a:t>
            </a:r>
            <a:r>
              <a:rPr lang="en-US" sz="2400" dirty="0">
                <a:solidFill>
                  <a:schemeClr val="tx1"/>
                </a:solidFill>
              </a:rPr>
              <a:t> – Used to perform database operations.</a:t>
            </a:r>
          </a:p>
          <a:p>
            <a:pPr lvl="1" algn="just"/>
            <a:r>
              <a:rPr lang="en-US" sz="2400" b="1" dirty="0" err="1">
                <a:solidFill>
                  <a:schemeClr val="tx1"/>
                </a:solidFill>
              </a:rPr>
              <a:t>ContentValues</a:t>
            </a:r>
            <a:r>
              <a:rPr lang="en-US" sz="2400" dirty="0">
                <a:solidFill>
                  <a:schemeClr val="tx1"/>
                </a:solidFill>
              </a:rPr>
              <a:t> – Used to store values while inserting or updating data.</a:t>
            </a:r>
          </a:p>
          <a:p>
            <a:pPr lvl="1" algn="just"/>
            <a:r>
              <a:rPr lang="en-US" sz="2400" b="1" dirty="0">
                <a:solidFill>
                  <a:schemeClr val="tx1"/>
                </a:solidFill>
              </a:rPr>
              <a:t>Cursor</a:t>
            </a:r>
            <a:r>
              <a:rPr lang="en-US" sz="2400" dirty="0">
                <a:solidFill>
                  <a:schemeClr val="tx1"/>
                </a:solidFill>
              </a:rPr>
              <a:t> – Used to read data returned from a query.</a:t>
            </a:r>
          </a:p>
          <a:p>
            <a:pPr algn="just"/>
            <a:r>
              <a:rPr lang="en-US" sz="2400" dirty="0">
                <a:solidFill>
                  <a:schemeClr val="tx1"/>
                </a:solidFill>
              </a:rPr>
              <a:t>These components together help developers manage database operations easily.</a:t>
            </a:r>
          </a:p>
        </p:txBody>
      </p:sp>
    </p:spTree>
    <p:extLst>
      <p:ext uri="{BB962C8B-B14F-4D97-AF65-F5344CB8AC3E}">
        <p14:creationId xmlns:p14="http://schemas.microsoft.com/office/powerpoint/2010/main" val="3028496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SQLite Data Types</a:t>
            </a:r>
          </a:p>
        </p:txBody>
      </p:sp>
      <p:sp>
        <p:nvSpPr>
          <p:cNvPr id="3" name="Content Placeholder 2"/>
          <p:cNvSpPr>
            <a:spLocks noGrp="1"/>
          </p:cNvSpPr>
          <p:nvPr>
            <p:ph idx="1"/>
          </p:nvPr>
        </p:nvSpPr>
        <p:spPr/>
        <p:txBody>
          <a:bodyPr>
            <a:normAutofit/>
          </a:bodyPr>
          <a:lstStyle/>
          <a:p>
            <a:r>
              <a:rPr lang="en-IN" sz="2800" dirty="0" smtClean="0">
                <a:solidFill>
                  <a:schemeClr val="tx1"/>
                </a:solidFill>
              </a:rPr>
              <a:t>SQLite </a:t>
            </a:r>
            <a:r>
              <a:rPr lang="en-IN" sz="2800" dirty="0">
                <a:solidFill>
                  <a:schemeClr val="tx1"/>
                </a:solidFill>
              </a:rPr>
              <a:t>supports dynamic data types. Commonly used data types are:</a:t>
            </a:r>
          </a:p>
          <a:p>
            <a:pPr lvl="1"/>
            <a:r>
              <a:rPr lang="en-IN" sz="2400" b="1" dirty="0">
                <a:solidFill>
                  <a:schemeClr val="tx1"/>
                </a:solidFill>
              </a:rPr>
              <a:t>INTEGER</a:t>
            </a:r>
            <a:r>
              <a:rPr lang="en-IN" sz="2400" dirty="0">
                <a:solidFill>
                  <a:schemeClr val="tx1"/>
                </a:solidFill>
              </a:rPr>
              <a:t> – Used for whole numbers.</a:t>
            </a:r>
          </a:p>
          <a:p>
            <a:pPr lvl="1"/>
            <a:r>
              <a:rPr lang="en-IN" sz="2400" b="1" dirty="0">
                <a:solidFill>
                  <a:schemeClr val="tx1"/>
                </a:solidFill>
              </a:rPr>
              <a:t>TEXT</a:t>
            </a:r>
            <a:r>
              <a:rPr lang="en-IN" sz="2400" dirty="0">
                <a:solidFill>
                  <a:schemeClr val="tx1"/>
                </a:solidFill>
              </a:rPr>
              <a:t> – Used for storing strings.</a:t>
            </a:r>
          </a:p>
          <a:p>
            <a:pPr lvl="1"/>
            <a:r>
              <a:rPr lang="en-IN" sz="2400" b="1" dirty="0">
                <a:solidFill>
                  <a:schemeClr val="tx1"/>
                </a:solidFill>
              </a:rPr>
              <a:t>REAL</a:t>
            </a:r>
            <a:r>
              <a:rPr lang="en-IN" sz="2400" dirty="0">
                <a:solidFill>
                  <a:schemeClr val="tx1"/>
                </a:solidFill>
              </a:rPr>
              <a:t> – Used for decimal values.</a:t>
            </a:r>
          </a:p>
          <a:p>
            <a:pPr lvl="1"/>
            <a:r>
              <a:rPr lang="en-IN" sz="2400" b="1" dirty="0">
                <a:solidFill>
                  <a:schemeClr val="tx1"/>
                </a:solidFill>
              </a:rPr>
              <a:t>BLOB</a:t>
            </a:r>
            <a:r>
              <a:rPr lang="en-IN" sz="2400" dirty="0">
                <a:solidFill>
                  <a:schemeClr val="tx1"/>
                </a:solidFill>
              </a:rPr>
              <a:t> – Used for binary data like images.</a:t>
            </a:r>
          </a:p>
          <a:p>
            <a:pPr lvl="1"/>
            <a:r>
              <a:rPr lang="en-IN" sz="2400" b="1" dirty="0">
                <a:solidFill>
                  <a:schemeClr val="tx1"/>
                </a:solidFill>
              </a:rPr>
              <a:t>NULL</a:t>
            </a:r>
            <a:r>
              <a:rPr lang="en-IN" sz="2400" dirty="0">
                <a:solidFill>
                  <a:schemeClr val="tx1"/>
                </a:solidFill>
              </a:rPr>
              <a:t> – Represents empty value.</a:t>
            </a:r>
          </a:p>
        </p:txBody>
      </p:sp>
    </p:spTree>
    <p:extLst>
      <p:ext uri="{BB962C8B-B14F-4D97-AF65-F5344CB8AC3E}">
        <p14:creationId xmlns:p14="http://schemas.microsoft.com/office/powerpoint/2010/main" val="97138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Cursor Class</a:t>
            </a:r>
          </a:p>
        </p:txBody>
      </p:sp>
      <p:sp>
        <p:nvSpPr>
          <p:cNvPr id="5" name="Rectangle 2"/>
          <p:cNvSpPr>
            <a:spLocks noGrp="1" noChangeArrowheads="1"/>
          </p:cNvSpPr>
          <p:nvPr>
            <p:ph idx="1"/>
          </p:nvPr>
        </p:nvSpPr>
        <p:spPr bwMode="auto">
          <a:xfrm>
            <a:off x="3016849" y="2198618"/>
            <a:ext cx="869807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pPr>
            <a:r>
              <a:rPr lang="en-US" altLang="en-US" sz="2400" dirty="0">
                <a:solidFill>
                  <a:schemeClr val="tx1"/>
                </a:solidFill>
                <a:latin typeface="Arial" panose="020B0604020202020204" pitchFamily="34" charset="0"/>
              </a:rPr>
              <a:t>A </a:t>
            </a:r>
            <a:r>
              <a:rPr lang="en-US" altLang="en-US" sz="2400" b="1" dirty="0">
                <a:solidFill>
                  <a:schemeClr val="tx1"/>
                </a:solidFill>
                <a:latin typeface="Arial" panose="020B0604020202020204" pitchFamily="34" charset="0"/>
              </a:rPr>
              <a:t>Cursor</a:t>
            </a:r>
            <a:r>
              <a:rPr lang="en-US" altLang="en-US" sz="2400" dirty="0">
                <a:solidFill>
                  <a:schemeClr val="tx1"/>
                </a:solidFill>
                <a:latin typeface="Arial" panose="020B0604020202020204" pitchFamily="34" charset="0"/>
              </a:rPr>
              <a:t> is an interface that provides access to the result set returned by a database query. It allows moving through rows and retrieving column values.</a:t>
            </a:r>
            <a:endParaRPr lang="en-US" altLang="en-US" sz="2400" b="1" dirty="0">
              <a:solidFill>
                <a:schemeClr val="tx1"/>
              </a:solidFill>
              <a:latin typeface="Arial" panose="020B0604020202020204" pitchFamily="34" charset="0"/>
            </a:endParaRPr>
          </a:p>
          <a:p>
            <a:pPr defTabSz="914400" eaLnBrk="0" fontAlgn="base" hangingPunct="0">
              <a:spcBef>
                <a:spcPct val="0"/>
              </a:spcBef>
              <a:spcAft>
                <a:spcPct val="0"/>
              </a:spcAft>
              <a:buClrTx/>
            </a:pPr>
            <a:r>
              <a:rPr lang="en-US" altLang="en-US" sz="2400" b="1" dirty="0">
                <a:solidFill>
                  <a:schemeClr val="tx1"/>
                </a:solidFill>
                <a:latin typeface="Arial" panose="020B0604020202020204" pitchFamily="34" charset="0"/>
              </a:rPr>
              <a:t>Common Cursor Methods:</a:t>
            </a:r>
          </a:p>
          <a:p>
            <a:pPr marL="400050" lvl="1" indent="0" defTabSz="914400" eaLnBrk="0" fontAlgn="base" hangingPunct="0">
              <a:spcBef>
                <a:spcPct val="0"/>
              </a:spcBef>
              <a:spcAft>
                <a:spcPct val="0"/>
              </a:spcAft>
              <a:buClrTx/>
              <a:buFontTx/>
              <a:buChar char="•"/>
            </a:pPr>
            <a:r>
              <a:rPr lang="en-US" altLang="en-US" sz="2400" dirty="0" err="1">
                <a:solidFill>
                  <a:schemeClr val="tx1"/>
                </a:solidFill>
                <a:latin typeface="Arial Unicode MS" panose="020B0604020202020204" pitchFamily="34" charset="-128"/>
              </a:rPr>
              <a:t>moveToFirst</a:t>
            </a:r>
            <a:r>
              <a:rPr lang="en-US" altLang="en-US" sz="2400" dirty="0">
                <a:solidFill>
                  <a:schemeClr val="tx1"/>
                </a:solidFill>
                <a:latin typeface="Arial Unicode MS" panose="020B0604020202020204" pitchFamily="34" charset="-128"/>
              </a:rPr>
              <a:t>()</a:t>
            </a:r>
            <a:endParaRPr lang="en-US" altLang="en-US" sz="2400" dirty="0">
              <a:solidFill>
                <a:schemeClr val="tx1"/>
              </a:solidFill>
            </a:endParaRPr>
          </a:p>
          <a:p>
            <a:pPr marL="400050" lvl="1" indent="0" defTabSz="914400" eaLnBrk="0" fontAlgn="base" hangingPunct="0">
              <a:spcBef>
                <a:spcPct val="0"/>
              </a:spcBef>
              <a:spcAft>
                <a:spcPct val="0"/>
              </a:spcAft>
              <a:buClrTx/>
              <a:buFontTx/>
              <a:buChar char="•"/>
            </a:pPr>
            <a:r>
              <a:rPr lang="en-US" altLang="en-US" sz="2400" dirty="0" err="1">
                <a:solidFill>
                  <a:schemeClr val="tx1"/>
                </a:solidFill>
                <a:latin typeface="Arial Unicode MS" panose="020B0604020202020204" pitchFamily="34" charset="-128"/>
              </a:rPr>
              <a:t>moveToNext</a:t>
            </a:r>
            <a:r>
              <a:rPr lang="en-US" altLang="en-US" sz="2400" dirty="0">
                <a:solidFill>
                  <a:schemeClr val="tx1"/>
                </a:solidFill>
                <a:latin typeface="Arial Unicode MS" panose="020B0604020202020204" pitchFamily="34" charset="-128"/>
              </a:rPr>
              <a:t>()</a:t>
            </a:r>
            <a:endParaRPr lang="en-US" altLang="en-US" sz="2400" dirty="0">
              <a:solidFill>
                <a:schemeClr val="tx1"/>
              </a:solidFill>
            </a:endParaRPr>
          </a:p>
          <a:p>
            <a:pPr marL="400050" lvl="1" indent="0" defTabSz="914400" eaLnBrk="0" fontAlgn="base" hangingPunct="0">
              <a:spcBef>
                <a:spcPct val="0"/>
              </a:spcBef>
              <a:spcAft>
                <a:spcPct val="0"/>
              </a:spcAft>
              <a:buClrTx/>
              <a:buFontTx/>
              <a:buChar char="•"/>
            </a:pPr>
            <a:r>
              <a:rPr lang="en-US" altLang="en-US" sz="2400" dirty="0" err="1">
                <a:solidFill>
                  <a:schemeClr val="tx1"/>
                </a:solidFill>
                <a:latin typeface="Arial Unicode MS" panose="020B0604020202020204" pitchFamily="34" charset="-128"/>
              </a:rPr>
              <a:t>getString</a:t>
            </a:r>
            <a:r>
              <a:rPr lang="en-US" altLang="en-US" sz="2400" dirty="0">
                <a:solidFill>
                  <a:schemeClr val="tx1"/>
                </a:solidFill>
                <a:latin typeface="Arial Unicode MS" panose="020B0604020202020204" pitchFamily="34" charset="-128"/>
              </a:rPr>
              <a:t>()</a:t>
            </a:r>
            <a:endParaRPr lang="en-US" altLang="en-US" sz="2400" dirty="0">
              <a:solidFill>
                <a:schemeClr val="tx1"/>
              </a:solidFill>
            </a:endParaRPr>
          </a:p>
          <a:p>
            <a:pPr marL="400050" lvl="1" indent="0" defTabSz="914400" eaLnBrk="0" fontAlgn="base" hangingPunct="0">
              <a:spcBef>
                <a:spcPct val="0"/>
              </a:spcBef>
              <a:spcAft>
                <a:spcPct val="0"/>
              </a:spcAft>
              <a:buClrTx/>
              <a:buFontTx/>
              <a:buChar char="•"/>
            </a:pPr>
            <a:r>
              <a:rPr lang="en-US" altLang="en-US" sz="2400" dirty="0" err="1">
                <a:solidFill>
                  <a:schemeClr val="tx1"/>
                </a:solidFill>
                <a:latin typeface="Arial Unicode MS" panose="020B0604020202020204" pitchFamily="34" charset="-128"/>
              </a:rPr>
              <a:t>getInt</a:t>
            </a:r>
            <a:r>
              <a:rPr lang="en-US" altLang="en-US" sz="2400" dirty="0">
                <a:solidFill>
                  <a:schemeClr val="tx1"/>
                </a:solidFill>
                <a:latin typeface="Arial Unicode MS" panose="020B0604020202020204" pitchFamily="34" charset="-128"/>
              </a:rPr>
              <a:t>()</a:t>
            </a:r>
            <a:endParaRPr lang="en-US" altLang="en-US" sz="2400" dirty="0">
              <a:solidFill>
                <a:schemeClr val="tx1"/>
              </a:solidFill>
            </a:endParaRPr>
          </a:p>
          <a:p>
            <a:pPr marL="400050" lvl="1" indent="0" defTabSz="914400" eaLnBrk="0" fontAlgn="base" hangingPunct="0">
              <a:spcBef>
                <a:spcPct val="0"/>
              </a:spcBef>
              <a:spcAft>
                <a:spcPct val="0"/>
              </a:spcAft>
              <a:buClrTx/>
              <a:buFontTx/>
              <a:buChar char="•"/>
            </a:pPr>
            <a:r>
              <a:rPr lang="en-US" altLang="en-US" sz="2400" dirty="0" err="1">
                <a:solidFill>
                  <a:schemeClr val="tx1"/>
                </a:solidFill>
                <a:latin typeface="Arial Unicode MS" panose="020B0604020202020204" pitchFamily="34" charset="-128"/>
              </a:rPr>
              <a:t>getCount</a:t>
            </a:r>
            <a:r>
              <a:rPr lang="en-US" altLang="en-US" sz="2400" dirty="0">
                <a:solidFill>
                  <a:schemeClr val="tx1"/>
                </a:solidFill>
                <a:latin typeface="Arial Unicode MS" panose="020B0604020202020204" pitchFamily="34" charset="-128"/>
              </a:rPr>
              <a:t>()</a:t>
            </a:r>
            <a:endParaRPr lang="en-US" altLang="en-US" sz="2400" dirty="0">
              <a:solidFill>
                <a:schemeClr val="tx1"/>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9446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8070" y="371061"/>
            <a:ext cx="9556542" cy="5540161"/>
          </a:xfrm>
        </p:spPr>
        <p:txBody>
          <a:bodyPr>
            <a:normAutofit/>
          </a:bodyPr>
          <a:lstStyle/>
          <a:p>
            <a:r>
              <a:rPr lang="en-US" sz="2800" b="1" dirty="0"/>
              <a:t>A</a:t>
            </a:r>
            <a:r>
              <a:rPr lang="en-US" sz="2800" b="1" dirty="0" smtClean="0"/>
              <a:t>dvantages </a:t>
            </a:r>
            <a:r>
              <a:rPr lang="en-US" sz="2800" b="1" dirty="0"/>
              <a:t>of SQLite in Android</a:t>
            </a:r>
          </a:p>
          <a:p>
            <a:pPr lvl="1"/>
            <a:r>
              <a:rPr lang="en-US" sz="2400" dirty="0">
                <a:solidFill>
                  <a:schemeClr val="tx1"/>
                </a:solidFill>
              </a:rPr>
              <a:t>No need for internet connection.</a:t>
            </a:r>
          </a:p>
          <a:p>
            <a:pPr lvl="1"/>
            <a:r>
              <a:rPr lang="en-US" sz="2400" dirty="0">
                <a:solidFill>
                  <a:schemeClr val="tx1"/>
                </a:solidFill>
              </a:rPr>
              <a:t>Easy to use and maintain.</a:t>
            </a:r>
          </a:p>
          <a:p>
            <a:pPr lvl="1"/>
            <a:r>
              <a:rPr lang="en-US" sz="2400" dirty="0">
                <a:solidFill>
                  <a:schemeClr val="tx1"/>
                </a:solidFill>
              </a:rPr>
              <a:t>Secure local data storage.</a:t>
            </a:r>
          </a:p>
          <a:p>
            <a:pPr lvl="1"/>
            <a:r>
              <a:rPr lang="en-US" sz="2400" dirty="0">
                <a:solidFill>
                  <a:schemeClr val="tx1"/>
                </a:solidFill>
              </a:rPr>
              <a:t>High performance for mobile applications.</a:t>
            </a:r>
          </a:p>
          <a:p>
            <a:pPr lvl="1"/>
            <a:r>
              <a:rPr lang="en-US" sz="2400" dirty="0">
                <a:solidFill>
                  <a:schemeClr val="tx1"/>
                </a:solidFill>
              </a:rPr>
              <a:t>Built-in support in Android</a:t>
            </a:r>
            <a:r>
              <a:rPr lang="en-US" sz="2400" dirty="0" smtClean="0">
                <a:solidFill>
                  <a:schemeClr val="tx1"/>
                </a:solidFill>
              </a:rPr>
              <a:t>.</a:t>
            </a:r>
          </a:p>
          <a:p>
            <a:pPr lvl="1"/>
            <a:endParaRPr lang="en-US" sz="2400" dirty="0">
              <a:solidFill>
                <a:schemeClr val="tx1"/>
              </a:solidFill>
            </a:endParaRPr>
          </a:p>
          <a:p>
            <a:r>
              <a:rPr lang="en-US" sz="2800" b="1" dirty="0">
                <a:solidFill>
                  <a:schemeClr val="tx1"/>
                </a:solidFill>
              </a:rPr>
              <a:t>Limitations of SQLite</a:t>
            </a:r>
          </a:p>
          <a:p>
            <a:pPr lvl="1"/>
            <a:r>
              <a:rPr lang="en-US" sz="2400" dirty="0">
                <a:solidFill>
                  <a:schemeClr val="tx1"/>
                </a:solidFill>
              </a:rPr>
              <a:t>Not suitable for very large databases.</a:t>
            </a:r>
          </a:p>
          <a:p>
            <a:pPr lvl="1"/>
            <a:r>
              <a:rPr lang="en-US" sz="2400" dirty="0">
                <a:solidFill>
                  <a:schemeClr val="tx1"/>
                </a:solidFill>
              </a:rPr>
              <a:t>Supports limited concurrency.</a:t>
            </a:r>
          </a:p>
          <a:p>
            <a:pPr lvl="1"/>
            <a:r>
              <a:rPr lang="en-US" sz="2400" dirty="0">
                <a:solidFill>
                  <a:schemeClr val="tx1"/>
                </a:solidFill>
              </a:rPr>
              <a:t>Not ideal for multi-user applications</a:t>
            </a:r>
            <a:r>
              <a:rPr lang="en-US" sz="2400" dirty="0"/>
              <a:t>.</a:t>
            </a:r>
          </a:p>
          <a:p>
            <a:endParaRPr lang="en-US" sz="2800" dirty="0"/>
          </a:p>
        </p:txBody>
      </p:sp>
    </p:spTree>
    <p:extLst>
      <p:ext uri="{BB962C8B-B14F-4D97-AF65-F5344CB8AC3E}">
        <p14:creationId xmlns:p14="http://schemas.microsoft.com/office/powerpoint/2010/main" val="593192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400" b="1" dirty="0">
                <a:solidFill>
                  <a:schemeClr val="tx1"/>
                </a:solidFill>
              </a:rPr>
              <a:t>Applications of SQLite</a:t>
            </a:r>
          </a:p>
          <a:p>
            <a:pPr lvl="1"/>
            <a:r>
              <a:rPr lang="en-US" sz="2000" dirty="0">
                <a:solidFill>
                  <a:schemeClr val="tx1"/>
                </a:solidFill>
              </a:rPr>
              <a:t>SQLite is used in many Android applications such as:</a:t>
            </a:r>
          </a:p>
          <a:p>
            <a:pPr lvl="1"/>
            <a:r>
              <a:rPr lang="en-US" sz="2000" dirty="0">
                <a:solidFill>
                  <a:schemeClr val="tx1"/>
                </a:solidFill>
              </a:rPr>
              <a:t>Student management systems</a:t>
            </a:r>
          </a:p>
          <a:p>
            <a:pPr lvl="1"/>
            <a:r>
              <a:rPr lang="en-US" sz="2000" dirty="0">
                <a:solidFill>
                  <a:schemeClr val="tx1"/>
                </a:solidFill>
              </a:rPr>
              <a:t>Attendance applications</a:t>
            </a:r>
          </a:p>
          <a:p>
            <a:pPr lvl="1"/>
            <a:r>
              <a:rPr lang="en-US" sz="2000" dirty="0">
                <a:solidFill>
                  <a:schemeClr val="tx1"/>
                </a:solidFill>
              </a:rPr>
              <a:t>Notes and diary apps</a:t>
            </a:r>
          </a:p>
          <a:p>
            <a:pPr lvl="1"/>
            <a:r>
              <a:rPr lang="en-US" sz="2000" dirty="0">
                <a:solidFill>
                  <a:schemeClr val="tx1"/>
                </a:solidFill>
              </a:rPr>
              <a:t>Offline mobile applications</a:t>
            </a:r>
          </a:p>
          <a:p>
            <a:pPr lvl="1"/>
            <a:r>
              <a:rPr lang="en-US" sz="2000" dirty="0">
                <a:solidFill>
                  <a:schemeClr val="tx1"/>
                </a:solidFill>
              </a:rPr>
              <a:t>Contact and message storage</a:t>
            </a:r>
          </a:p>
        </p:txBody>
      </p:sp>
    </p:spTree>
    <p:extLst>
      <p:ext uri="{BB962C8B-B14F-4D97-AF65-F5344CB8AC3E}">
        <p14:creationId xmlns:p14="http://schemas.microsoft.com/office/powerpoint/2010/main" val="289039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Google Play Services </a:t>
            </a:r>
            <a:endParaRPr lang="en-IN" dirty="0"/>
          </a:p>
        </p:txBody>
      </p:sp>
      <p:sp>
        <p:nvSpPr>
          <p:cNvPr id="3" name="Content Placeholder 2"/>
          <p:cNvSpPr>
            <a:spLocks noGrp="1"/>
          </p:cNvSpPr>
          <p:nvPr>
            <p:ph idx="1"/>
          </p:nvPr>
        </p:nvSpPr>
        <p:spPr>
          <a:xfrm>
            <a:off x="2257907" y="1802295"/>
            <a:ext cx="8915400" cy="4731025"/>
          </a:xfrm>
        </p:spPr>
        <p:txBody>
          <a:bodyPr>
            <a:normAutofit/>
          </a:bodyPr>
          <a:lstStyle/>
          <a:p>
            <a:pPr algn="just"/>
            <a:r>
              <a:rPr lang="en-US" sz="2400" b="1" dirty="0"/>
              <a:t>Google Play Services</a:t>
            </a:r>
            <a:r>
              <a:rPr lang="en-US" sz="2400" dirty="0"/>
              <a:t> is a </a:t>
            </a:r>
            <a:r>
              <a:rPr lang="en-US" sz="2400" b="1" dirty="0"/>
              <a:t>system-level support package</a:t>
            </a:r>
            <a:r>
              <a:rPr lang="en-US" sz="2400" dirty="0"/>
              <a:t> developed by </a:t>
            </a:r>
            <a:r>
              <a:rPr lang="en-US" sz="2400" dirty="0" smtClean="0"/>
              <a:t>Google.</a:t>
            </a:r>
          </a:p>
          <a:p>
            <a:pPr algn="just"/>
            <a:r>
              <a:rPr lang="en-US" sz="2400" dirty="0" smtClean="0"/>
              <a:t>It acts as a </a:t>
            </a:r>
            <a:r>
              <a:rPr lang="en-US" sz="2400" b="1" dirty="0" smtClean="0"/>
              <a:t>bridge between Android apps and Google’s advanced features</a:t>
            </a:r>
            <a:r>
              <a:rPr lang="en-US" sz="2400" dirty="0" smtClean="0"/>
              <a:t>.</a:t>
            </a:r>
          </a:p>
          <a:p>
            <a:pPr algn="just"/>
            <a:r>
              <a:rPr lang="en-US" sz="2400" b="1" dirty="0"/>
              <a:t>Why Google Play Services Is Needed</a:t>
            </a:r>
          </a:p>
          <a:p>
            <a:pPr lvl="1" algn="just"/>
            <a:r>
              <a:rPr lang="en-US" sz="2000" dirty="0"/>
              <a:t>Android devices come from different manufacturers (Samsung, Xiaomi, etc.)</a:t>
            </a:r>
          </a:p>
          <a:p>
            <a:pPr lvl="1" algn="just"/>
            <a:r>
              <a:rPr lang="en-US" sz="2000" dirty="0"/>
              <a:t>OS versions may be different</a:t>
            </a:r>
          </a:p>
          <a:p>
            <a:pPr lvl="1" algn="just"/>
            <a:r>
              <a:rPr lang="en-US" sz="2000" dirty="0"/>
              <a:t>Google Play Services provides </a:t>
            </a:r>
            <a:r>
              <a:rPr lang="en-US" sz="2000" b="1" dirty="0"/>
              <a:t>uniform APIs</a:t>
            </a:r>
            <a:r>
              <a:rPr lang="en-US" sz="2000" dirty="0"/>
              <a:t> for all devices</a:t>
            </a:r>
          </a:p>
          <a:p>
            <a:pPr algn="just"/>
            <a:endParaRPr lang="en-IN" sz="2400" dirty="0"/>
          </a:p>
        </p:txBody>
      </p:sp>
    </p:spTree>
    <p:extLst>
      <p:ext uri="{BB962C8B-B14F-4D97-AF65-F5344CB8AC3E}">
        <p14:creationId xmlns:p14="http://schemas.microsoft.com/office/powerpoint/2010/main" val="3946606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318051"/>
            <a:ext cx="8915400" cy="6308035"/>
          </a:xfrm>
        </p:spPr>
        <p:txBody>
          <a:bodyPr>
            <a:normAutofit lnSpcReduction="10000"/>
          </a:bodyPr>
          <a:lstStyle/>
          <a:p>
            <a:pPr algn="just"/>
            <a:r>
              <a:rPr lang="en-US" sz="2400" b="1" dirty="0"/>
              <a:t>Important Characteristics</a:t>
            </a:r>
          </a:p>
          <a:p>
            <a:pPr lvl="1" algn="just"/>
            <a:r>
              <a:rPr lang="en-US" sz="2000" dirty="0"/>
              <a:t>Runs silently in the background</a:t>
            </a:r>
          </a:p>
          <a:p>
            <a:pPr lvl="1" algn="just"/>
            <a:r>
              <a:rPr lang="en-US" sz="2000" dirty="0"/>
              <a:t>Automatically updates through Play Store</a:t>
            </a:r>
          </a:p>
          <a:p>
            <a:pPr lvl="1" algn="just"/>
            <a:r>
              <a:rPr lang="en-US" sz="2000" dirty="0"/>
              <a:t>Reduces developer effort</a:t>
            </a:r>
          </a:p>
          <a:p>
            <a:pPr lvl="1" algn="just"/>
            <a:r>
              <a:rPr lang="en-US" sz="2000" dirty="0"/>
              <a:t>Improves app </a:t>
            </a:r>
            <a:r>
              <a:rPr lang="en-US" sz="2000" dirty="0" smtClean="0"/>
              <a:t>compatibility</a:t>
            </a:r>
          </a:p>
          <a:p>
            <a:pPr lvl="1" algn="just"/>
            <a:endParaRPr lang="en-US" sz="2000" dirty="0"/>
          </a:p>
          <a:p>
            <a:pPr algn="just"/>
            <a:r>
              <a:rPr lang="en-US" sz="2400" b="1" dirty="0"/>
              <a:t>Services Included</a:t>
            </a:r>
          </a:p>
          <a:p>
            <a:pPr lvl="1" algn="just"/>
            <a:r>
              <a:rPr lang="en-US" sz="2000" dirty="0"/>
              <a:t>Location APIs</a:t>
            </a:r>
          </a:p>
          <a:p>
            <a:pPr lvl="1" algn="just"/>
            <a:r>
              <a:rPr lang="en-US" sz="2000" dirty="0"/>
              <a:t>Maps APIs</a:t>
            </a:r>
          </a:p>
          <a:p>
            <a:pPr lvl="1" algn="just"/>
            <a:r>
              <a:rPr lang="en-US" sz="2000" dirty="0"/>
              <a:t>Authentication APIs</a:t>
            </a:r>
          </a:p>
          <a:p>
            <a:pPr lvl="1" algn="just"/>
            <a:r>
              <a:rPr lang="en-US" sz="2000" dirty="0"/>
              <a:t>Cloud Messaging (notifications)</a:t>
            </a:r>
          </a:p>
          <a:p>
            <a:pPr lvl="1" algn="just"/>
            <a:r>
              <a:rPr lang="en-US" sz="2000" dirty="0"/>
              <a:t>Google </a:t>
            </a:r>
            <a:r>
              <a:rPr lang="en-US" sz="2000" dirty="0" smtClean="0"/>
              <a:t>Analytics</a:t>
            </a:r>
          </a:p>
          <a:p>
            <a:pPr lvl="1" algn="just"/>
            <a:endParaRPr lang="en-US" sz="2000" dirty="0" smtClean="0"/>
          </a:p>
          <a:p>
            <a:pPr algn="just"/>
            <a:r>
              <a:rPr lang="en-US" sz="2400" b="1" dirty="0"/>
              <a:t>Without Google Play Services</a:t>
            </a:r>
            <a:r>
              <a:rPr lang="en-US" sz="2400" dirty="0"/>
              <a:t>, apps like Maps, Gmail, Uber will not work properly.</a:t>
            </a:r>
          </a:p>
        </p:txBody>
      </p:sp>
    </p:spTree>
    <p:extLst>
      <p:ext uri="{BB962C8B-B14F-4D97-AF65-F5344CB8AC3E}">
        <p14:creationId xmlns:p14="http://schemas.microsoft.com/office/powerpoint/2010/main" val="23430007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6907" y="322623"/>
            <a:ext cx="8911687" cy="1280890"/>
          </a:xfrm>
        </p:spPr>
        <p:txBody>
          <a:bodyPr/>
          <a:lstStyle/>
          <a:p>
            <a:r>
              <a:rPr lang="en-IN" dirty="0"/>
              <a:t>Location Services</a:t>
            </a:r>
          </a:p>
        </p:txBody>
      </p:sp>
      <p:sp>
        <p:nvSpPr>
          <p:cNvPr id="3" name="Content Placeholder 2"/>
          <p:cNvSpPr>
            <a:spLocks noGrp="1"/>
          </p:cNvSpPr>
          <p:nvPr>
            <p:ph idx="1"/>
          </p:nvPr>
        </p:nvSpPr>
        <p:spPr>
          <a:xfrm>
            <a:off x="2363924" y="1232452"/>
            <a:ext cx="8915400" cy="3777622"/>
          </a:xfrm>
        </p:spPr>
        <p:txBody>
          <a:bodyPr>
            <a:noAutofit/>
          </a:bodyPr>
          <a:lstStyle/>
          <a:p>
            <a:pPr algn="just"/>
            <a:r>
              <a:rPr lang="en-US" sz="2400" b="1" dirty="0"/>
              <a:t>Location Services</a:t>
            </a:r>
            <a:r>
              <a:rPr lang="en-US" sz="2400" dirty="0"/>
              <a:t> is a component of </a:t>
            </a:r>
            <a:r>
              <a:rPr lang="en-US" sz="2400" b="1" dirty="0"/>
              <a:t>Google Play Services</a:t>
            </a:r>
            <a:r>
              <a:rPr lang="en-US" sz="2400" dirty="0"/>
              <a:t> used to </a:t>
            </a:r>
            <a:r>
              <a:rPr lang="en-US" sz="2400" b="1" dirty="0"/>
              <a:t>determine the geographical location of a device</a:t>
            </a:r>
            <a:r>
              <a:rPr lang="en-US" sz="2400" dirty="0"/>
              <a:t>.</a:t>
            </a:r>
          </a:p>
          <a:p>
            <a:pPr algn="just"/>
            <a:r>
              <a:rPr lang="en-US" sz="2400" b="1" dirty="0"/>
              <a:t>Fused Location </a:t>
            </a:r>
            <a:r>
              <a:rPr lang="en-US" sz="2400" b="1" dirty="0" smtClean="0"/>
              <a:t>Provider</a:t>
            </a:r>
          </a:p>
          <a:p>
            <a:pPr algn="just"/>
            <a:endParaRPr lang="en-US" sz="2400" b="1" dirty="0"/>
          </a:p>
          <a:p>
            <a:pPr algn="just"/>
            <a:r>
              <a:rPr lang="en-US" sz="2400" dirty="0"/>
              <a:t>Instead of using only GPS, Google uses a </a:t>
            </a:r>
            <a:r>
              <a:rPr lang="en-US" sz="2400" b="1" dirty="0"/>
              <a:t>Fused Location Provider</a:t>
            </a:r>
            <a:r>
              <a:rPr lang="en-US" sz="2400" dirty="0"/>
              <a:t>, which combines:</a:t>
            </a:r>
          </a:p>
          <a:p>
            <a:pPr lvl="1" algn="just"/>
            <a:r>
              <a:rPr lang="en-US" sz="2000" dirty="0"/>
              <a:t>GPS (high accuracy, more battery usage)</a:t>
            </a:r>
          </a:p>
          <a:p>
            <a:pPr lvl="1" algn="just"/>
            <a:r>
              <a:rPr lang="en-US" sz="2000" dirty="0"/>
              <a:t>Wi-Fi (medium accuracy)</a:t>
            </a:r>
          </a:p>
          <a:p>
            <a:pPr lvl="1" algn="just"/>
            <a:r>
              <a:rPr lang="en-US" sz="2000" dirty="0"/>
              <a:t>Mobile towers (low accuracy, less battery)</a:t>
            </a:r>
          </a:p>
          <a:p>
            <a:pPr lvl="1" algn="just"/>
            <a:r>
              <a:rPr lang="en-US" sz="2000" dirty="0"/>
              <a:t>Sensors (accelerometer, gyroscope</a:t>
            </a:r>
            <a:r>
              <a:rPr lang="en-US" sz="2000" dirty="0" smtClean="0"/>
              <a:t>)</a:t>
            </a:r>
          </a:p>
          <a:p>
            <a:pPr algn="just"/>
            <a:r>
              <a:rPr lang="en-US" sz="2400" dirty="0"/>
              <a:t>This gives </a:t>
            </a:r>
            <a:r>
              <a:rPr lang="en-US" sz="2400" b="1" dirty="0"/>
              <a:t>better accuracy with less battery consumption</a:t>
            </a:r>
            <a:r>
              <a:rPr lang="en-US" sz="2400" dirty="0"/>
              <a:t>.</a:t>
            </a:r>
          </a:p>
        </p:txBody>
      </p:sp>
    </p:spTree>
    <p:extLst>
      <p:ext uri="{BB962C8B-B14F-4D97-AF65-F5344CB8AC3E}">
        <p14:creationId xmlns:p14="http://schemas.microsoft.com/office/powerpoint/2010/main" val="40907354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1258956"/>
            <a:ext cx="8915400" cy="3777622"/>
          </a:xfrm>
        </p:spPr>
        <p:txBody>
          <a:bodyPr>
            <a:normAutofit/>
          </a:bodyPr>
          <a:lstStyle/>
          <a:p>
            <a:pPr marL="0" lvl="0" indent="0" defTabSz="914400" eaLnBrk="0" fontAlgn="base" hangingPunct="0">
              <a:spcBef>
                <a:spcPct val="0"/>
              </a:spcBef>
              <a:spcAft>
                <a:spcPct val="0"/>
              </a:spcAft>
              <a:buClrTx/>
              <a:buNone/>
            </a:pPr>
            <a:r>
              <a:rPr lang="en-US" altLang="en-US" sz="2800" b="1" dirty="0">
                <a:solidFill>
                  <a:schemeClr val="tx1"/>
                </a:solidFill>
              </a:rPr>
              <a:t>Location Permissions</a:t>
            </a:r>
          </a:p>
          <a:p>
            <a:pPr marL="0" lvl="0" indent="0" defTabSz="914400" eaLnBrk="0" fontAlgn="base" hangingPunct="0">
              <a:spcBef>
                <a:spcPct val="0"/>
              </a:spcBef>
              <a:spcAft>
                <a:spcPct val="0"/>
              </a:spcAft>
              <a:buClrTx/>
              <a:buNone/>
            </a:pPr>
            <a:r>
              <a:rPr lang="en-US" altLang="en-US" sz="2800" dirty="0">
                <a:solidFill>
                  <a:schemeClr val="tx1"/>
                </a:solidFill>
              </a:rPr>
              <a:t>Apps must request permission from users:</a:t>
            </a:r>
          </a:p>
          <a:p>
            <a:pPr lvl="1" indent="-342900" defTabSz="914400" eaLnBrk="0" fontAlgn="base" hangingPunct="0">
              <a:spcBef>
                <a:spcPct val="0"/>
              </a:spcBef>
              <a:spcAft>
                <a:spcPct val="0"/>
              </a:spcAft>
              <a:buClrTx/>
              <a:buFont typeface="Wingdings" panose="05000000000000000000" pitchFamily="2" charset="2"/>
              <a:buChar char="Ø"/>
            </a:pPr>
            <a:r>
              <a:rPr lang="en-US" altLang="en-US" sz="2400" dirty="0">
                <a:solidFill>
                  <a:schemeClr val="tx1"/>
                </a:solidFill>
              </a:rPr>
              <a:t>ACCESS_FINE_LOCATION → precise location</a:t>
            </a:r>
          </a:p>
          <a:p>
            <a:pPr lvl="1" indent="-342900" defTabSz="914400" eaLnBrk="0" fontAlgn="base" hangingPunct="0">
              <a:spcBef>
                <a:spcPct val="0"/>
              </a:spcBef>
              <a:spcAft>
                <a:spcPct val="0"/>
              </a:spcAft>
              <a:buClrTx/>
              <a:buFont typeface="Wingdings" panose="05000000000000000000" pitchFamily="2" charset="2"/>
              <a:buChar char="Ø"/>
            </a:pPr>
            <a:r>
              <a:rPr lang="en-US" altLang="en-US" sz="2400" dirty="0">
                <a:solidFill>
                  <a:schemeClr val="tx1"/>
                </a:solidFill>
              </a:rPr>
              <a:t>ACCESS_COARSE_LOCATION → approximate </a:t>
            </a:r>
            <a:r>
              <a:rPr lang="en-US" altLang="en-US" sz="2400" dirty="0" smtClean="0">
                <a:solidFill>
                  <a:schemeClr val="tx1"/>
                </a:solidFill>
              </a:rPr>
              <a:t>location</a:t>
            </a:r>
          </a:p>
          <a:p>
            <a:pPr marL="0" lvl="0" indent="0" defTabSz="914400" eaLnBrk="0" fontAlgn="base" hangingPunct="0">
              <a:spcBef>
                <a:spcPct val="0"/>
              </a:spcBef>
              <a:spcAft>
                <a:spcPct val="0"/>
              </a:spcAft>
              <a:buClrTx/>
              <a:buNone/>
            </a:pPr>
            <a:endParaRPr lang="en-US" altLang="en-US" sz="2400" dirty="0">
              <a:solidFill>
                <a:schemeClr val="tx1"/>
              </a:solidFill>
            </a:endParaRPr>
          </a:p>
          <a:p>
            <a:pPr marL="0" lvl="0" indent="0" defTabSz="914400" eaLnBrk="0" fontAlgn="base" hangingPunct="0">
              <a:spcBef>
                <a:spcPct val="0"/>
              </a:spcBef>
              <a:spcAft>
                <a:spcPct val="0"/>
              </a:spcAft>
              <a:buClrTx/>
              <a:buNone/>
            </a:pPr>
            <a:r>
              <a:rPr lang="en-US" altLang="en-US" sz="2800" dirty="0" smtClean="0">
                <a:solidFill>
                  <a:schemeClr val="tx1"/>
                </a:solidFill>
              </a:rPr>
              <a:t>From </a:t>
            </a:r>
            <a:r>
              <a:rPr lang="en-US" altLang="en-US" sz="2800" dirty="0">
                <a:solidFill>
                  <a:schemeClr val="tx1"/>
                </a:solidFill>
              </a:rPr>
              <a:t>Android 6.0 onwards:</a:t>
            </a:r>
          </a:p>
          <a:p>
            <a:pPr marL="400050" lvl="1" indent="0" defTabSz="914400" eaLnBrk="0" fontAlgn="base" hangingPunct="0">
              <a:spcBef>
                <a:spcPct val="0"/>
              </a:spcBef>
              <a:spcAft>
                <a:spcPct val="0"/>
              </a:spcAft>
              <a:buClrTx/>
              <a:buFontTx/>
              <a:buChar char="•"/>
            </a:pPr>
            <a:r>
              <a:rPr lang="en-US" altLang="en-US" sz="2400" dirty="0">
                <a:solidFill>
                  <a:schemeClr val="tx1"/>
                </a:solidFill>
              </a:rPr>
              <a:t>Permission is asked </a:t>
            </a:r>
            <a:r>
              <a:rPr lang="en-US" altLang="en-US" sz="2400" b="1" dirty="0">
                <a:solidFill>
                  <a:schemeClr val="tx1"/>
                </a:solidFill>
              </a:rPr>
              <a:t>at runtime</a:t>
            </a:r>
            <a:endParaRPr lang="en-US" altLang="en-US" sz="2400" dirty="0">
              <a:solidFill>
                <a:schemeClr val="tx1"/>
              </a:solidFill>
            </a:endParaRPr>
          </a:p>
          <a:p>
            <a:pPr marL="400050" lvl="1" indent="0" defTabSz="914400" eaLnBrk="0" fontAlgn="base" hangingPunct="0">
              <a:spcBef>
                <a:spcPct val="0"/>
              </a:spcBef>
              <a:spcAft>
                <a:spcPct val="0"/>
              </a:spcAft>
              <a:buClrTx/>
              <a:buFontTx/>
              <a:buChar char="•"/>
            </a:pPr>
            <a:r>
              <a:rPr lang="en-US" altLang="en-US" sz="2400" dirty="0">
                <a:solidFill>
                  <a:schemeClr val="tx1"/>
                </a:solidFill>
              </a:rPr>
              <a:t>User can allow or deny anytime</a:t>
            </a:r>
          </a:p>
        </p:txBody>
      </p:sp>
    </p:spTree>
    <p:extLst>
      <p:ext uri="{BB962C8B-B14F-4D97-AF65-F5344CB8AC3E}">
        <p14:creationId xmlns:p14="http://schemas.microsoft.com/office/powerpoint/2010/main" val="1874233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1134" y="216606"/>
            <a:ext cx="8911687" cy="1280890"/>
          </a:xfrm>
        </p:spPr>
        <p:txBody>
          <a:bodyPr/>
          <a:lstStyle/>
          <a:p>
            <a:r>
              <a:rPr lang="en-IN" dirty="0"/>
              <a:t>Google Maps</a:t>
            </a:r>
          </a:p>
        </p:txBody>
      </p:sp>
      <p:sp>
        <p:nvSpPr>
          <p:cNvPr id="3" name="Content Placeholder 2"/>
          <p:cNvSpPr>
            <a:spLocks noGrp="1"/>
          </p:cNvSpPr>
          <p:nvPr>
            <p:ph idx="1"/>
          </p:nvPr>
        </p:nvSpPr>
        <p:spPr>
          <a:xfrm>
            <a:off x="1975705" y="857051"/>
            <a:ext cx="9642544" cy="5795540"/>
          </a:xfrm>
        </p:spPr>
        <p:txBody>
          <a:bodyPr>
            <a:noAutofit/>
          </a:bodyPr>
          <a:lstStyle/>
          <a:p>
            <a:r>
              <a:rPr lang="en-IN" sz="2400" b="1" dirty="0"/>
              <a:t>Google Maps API</a:t>
            </a:r>
            <a:r>
              <a:rPr lang="en-IN" sz="2400" dirty="0"/>
              <a:t> allows developers to </a:t>
            </a:r>
            <a:r>
              <a:rPr lang="en-IN" sz="2400" b="1" dirty="0"/>
              <a:t>embed maps inside Android apps</a:t>
            </a:r>
            <a:r>
              <a:rPr lang="en-IN" sz="2400" dirty="0"/>
              <a:t>.</a:t>
            </a:r>
          </a:p>
          <a:p>
            <a:r>
              <a:rPr lang="en-IN" sz="2400" b="1" dirty="0"/>
              <a:t>Map Types</a:t>
            </a:r>
          </a:p>
          <a:p>
            <a:pPr lvl="1"/>
            <a:r>
              <a:rPr lang="en-IN" sz="2400" dirty="0"/>
              <a:t>Normal (default map)</a:t>
            </a:r>
          </a:p>
          <a:p>
            <a:pPr lvl="1"/>
            <a:r>
              <a:rPr lang="en-IN" sz="2400" dirty="0"/>
              <a:t>Satellite</a:t>
            </a:r>
          </a:p>
          <a:p>
            <a:pPr lvl="1"/>
            <a:r>
              <a:rPr lang="en-IN" sz="2400" dirty="0"/>
              <a:t>Terrain</a:t>
            </a:r>
          </a:p>
          <a:p>
            <a:pPr lvl="1"/>
            <a:r>
              <a:rPr lang="en-IN" sz="2400" dirty="0"/>
              <a:t>Hybrid</a:t>
            </a:r>
          </a:p>
          <a:p>
            <a:r>
              <a:rPr lang="en-IN" sz="2400" b="1" dirty="0"/>
              <a:t>Map Elements</a:t>
            </a:r>
          </a:p>
          <a:p>
            <a:pPr lvl="1"/>
            <a:r>
              <a:rPr lang="en-IN" sz="2400" b="1" dirty="0"/>
              <a:t>Markers</a:t>
            </a:r>
            <a:r>
              <a:rPr lang="en-IN" sz="2400" dirty="0"/>
              <a:t> → show places</a:t>
            </a:r>
          </a:p>
          <a:p>
            <a:pPr lvl="1"/>
            <a:r>
              <a:rPr lang="en-IN" sz="2400" b="1" dirty="0"/>
              <a:t>Polylines</a:t>
            </a:r>
            <a:r>
              <a:rPr lang="en-IN" sz="2400" dirty="0"/>
              <a:t> → show routes</a:t>
            </a:r>
          </a:p>
          <a:p>
            <a:pPr lvl="1"/>
            <a:r>
              <a:rPr lang="en-IN" sz="2400" b="1" dirty="0"/>
              <a:t>Polygons</a:t>
            </a:r>
            <a:r>
              <a:rPr lang="en-IN" sz="2400" dirty="0"/>
              <a:t> → show areas</a:t>
            </a:r>
          </a:p>
          <a:p>
            <a:pPr lvl="1"/>
            <a:r>
              <a:rPr lang="en-IN" sz="2400" b="1" dirty="0"/>
              <a:t>Camera</a:t>
            </a:r>
            <a:r>
              <a:rPr lang="en-IN" sz="2400" dirty="0"/>
              <a:t> → controls zoom and position</a:t>
            </a:r>
          </a:p>
        </p:txBody>
      </p:sp>
    </p:spTree>
    <p:extLst>
      <p:ext uri="{BB962C8B-B14F-4D97-AF65-F5344CB8AC3E}">
        <p14:creationId xmlns:p14="http://schemas.microsoft.com/office/powerpoint/2010/main" val="744159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78296"/>
            <a:ext cx="8915400" cy="6453808"/>
          </a:xfrm>
        </p:spPr>
        <p:txBody>
          <a:bodyPr>
            <a:noAutofit/>
          </a:bodyPr>
          <a:lstStyle/>
          <a:p>
            <a:r>
              <a:rPr lang="en-US" sz="2400" b="1" dirty="0"/>
              <a:t>Google Maps API Key</a:t>
            </a:r>
          </a:p>
          <a:p>
            <a:pPr lvl="1"/>
            <a:r>
              <a:rPr lang="en-US" sz="2000" dirty="0"/>
              <a:t>A </a:t>
            </a:r>
            <a:r>
              <a:rPr lang="en-US" sz="2000" b="1" dirty="0"/>
              <a:t>unique key</a:t>
            </a:r>
            <a:r>
              <a:rPr lang="en-US" sz="2000" dirty="0"/>
              <a:t> generated from Google Cloud Console</a:t>
            </a:r>
          </a:p>
          <a:p>
            <a:pPr lvl="1"/>
            <a:r>
              <a:rPr lang="en-US" sz="2000" dirty="0"/>
              <a:t>Used to authenticate the app</a:t>
            </a:r>
          </a:p>
          <a:p>
            <a:pPr lvl="1"/>
            <a:r>
              <a:rPr lang="en-US" sz="2000" dirty="0"/>
              <a:t>Prevents misuse of maps </a:t>
            </a:r>
            <a:r>
              <a:rPr lang="en-US" sz="2000" dirty="0" smtClean="0"/>
              <a:t>service</a:t>
            </a:r>
          </a:p>
          <a:p>
            <a:r>
              <a:rPr lang="en-US" sz="2400" b="1" dirty="0"/>
              <a:t>Advantages of Google Maps</a:t>
            </a:r>
          </a:p>
          <a:p>
            <a:pPr lvl="1"/>
            <a:r>
              <a:rPr lang="en-US" sz="2000" dirty="0"/>
              <a:t>Accurate and real-time data</a:t>
            </a:r>
          </a:p>
          <a:p>
            <a:pPr lvl="1"/>
            <a:r>
              <a:rPr lang="en-US" sz="2000" dirty="0"/>
              <a:t>Traffic information</a:t>
            </a:r>
          </a:p>
          <a:p>
            <a:pPr lvl="1"/>
            <a:r>
              <a:rPr lang="en-US" sz="2000" dirty="0"/>
              <a:t>Easy navigation support</a:t>
            </a:r>
          </a:p>
          <a:p>
            <a:pPr lvl="1"/>
            <a:r>
              <a:rPr lang="en-US" sz="2000" dirty="0"/>
              <a:t>Trusted by millions of users</a:t>
            </a:r>
          </a:p>
          <a:p>
            <a:r>
              <a:rPr lang="en-US" sz="2400" b="1" dirty="0" smtClean="0"/>
              <a:t>Example</a:t>
            </a:r>
            <a:r>
              <a:rPr lang="en-US" sz="2400" dirty="0"/>
              <a:t/>
            </a:r>
            <a:br>
              <a:rPr lang="en-US" sz="2400" dirty="0"/>
            </a:br>
            <a:r>
              <a:rPr lang="en-US" sz="2400" dirty="0"/>
              <a:t>An app showing nearby:</a:t>
            </a:r>
          </a:p>
          <a:p>
            <a:pPr lvl="1"/>
            <a:r>
              <a:rPr lang="en-US" sz="2000" dirty="0"/>
              <a:t>ATMs</a:t>
            </a:r>
          </a:p>
          <a:p>
            <a:pPr lvl="1"/>
            <a:r>
              <a:rPr lang="en-US" sz="2000" dirty="0"/>
              <a:t>Hospitals</a:t>
            </a:r>
          </a:p>
          <a:p>
            <a:pPr lvl="1"/>
            <a:r>
              <a:rPr lang="en-US" sz="2000" dirty="0"/>
              <a:t>Colleges</a:t>
            </a:r>
          </a:p>
          <a:p>
            <a:pPr lvl="1"/>
            <a:r>
              <a:rPr lang="en-US" sz="2000" dirty="0"/>
              <a:t>Restaurants</a:t>
            </a:r>
          </a:p>
          <a:p>
            <a:endParaRPr lang="en-US" sz="2400" dirty="0"/>
          </a:p>
        </p:txBody>
      </p:sp>
    </p:spTree>
    <p:extLst>
      <p:ext uri="{BB962C8B-B14F-4D97-AF65-F5344CB8AC3E}">
        <p14:creationId xmlns:p14="http://schemas.microsoft.com/office/powerpoint/2010/main" val="3165239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9212" y="238539"/>
            <a:ext cx="8915400" cy="6414052"/>
          </a:xfrm>
        </p:spPr>
        <p:txBody>
          <a:bodyPr>
            <a:normAutofit/>
          </a:bodyPr>
          <a:lstStyle/>
          <a:p>
            <a:r>
              <a:rPr lang="en-US" sz="2400" b="1" dirty="0"/>
              <a:t>How These Three Work Together</a:t>
            </a:r>
          </a:p>
          <a:p>
            <a:r>
              <a:rPr lang="en-US" sz="2400" b="1" dirty="0"/>
              <a:t>Step-by-Step Flow</a:t>
            </a:r>
          </a:p>
          <a:p>
            <a:pPr marL="800100" lvl="1" indent="-342900">
              <a:buFont typeface="+mj-lt"/>
              <a:buAutoNum type="arabicPeriod"/>
            </a:pPr>
            <a:r>
              <a:rPr lang="en-US" sz="2000" b="1" dirty="0"/>
              <a:t>Google Play Services</a:t>
            </a:r>
            <a:r>
              <a:rPr lang="en-US" sz="2000" dirty="0"/>
              <a:t> provides APIs</a:t>
            </a:r>
          </a:p>
          <a:p>
            <a:pPr marL="800100" lvl="1" indent="-342900">
              <a:buFont typeface="+mj-lt"/>
              <a:buAutoNum type="arabicPeriod"/>
            </a:pPr>
            <a:r>
              <a:rPr lang="en-US" sz="2000" b="1" dirty="0"/>
              <a:t>Location Services</a:t>
            </a:r>
            <a:r>
              <a:rPr lang="en-US" sz="2000" dirty="0"/>
              <a:t> detects current location</a:t>
            </a:r>
          </a:p>
          <a:p>
            <a:pPr marL="800100" lvl="1" indent="-342900">
              <a:buFont typeface="+mj-lt"/>
              <a:buAutoNum type="arabicPeriod"/>
            </a:pPr>
            <a:r>
              <a:rPr lang="en-US" sz="2000" b="1" dirty="0"/>
              <a:t>Google Maps</a:t>
            </a:r>
            <a:r>
              <a:rPr lang="en-US" sz="2000" dirty="0"/>
              <a:t> displays that location on a </a:t>
            </a:r>
            <a:r>
              <a:rPr lang="en-US" sz="2000" dirty="0" smtClean="0"/>
              <a:t>map</a:t>
            </a:r>
          </a:p>
          <a:p>
            <a:endParaRPr lang="en-US" sz="2400" b="1" dirty="0"/>
          </a:p>
          <a:p>
            <a:r>
              <a:rPr lang="en-US" sz="2400" b="1" dirty="0" smtClean="0"/>
              <a:t>Real-Time </a:t>
            </a:r>
            <a:r>
              <a:rPr lang="en-US" sz="2400" b="1" dirty="0"/>
              <a:t>Example: Food Delivery App </a:t>
            </a:r>
          </a:p>
          <a:p>
            <a:pPr lvl="1"/>
            <a:r>
              <a:rPr lang="en-US" sz="2000" dirty="0"/>
              <a:t>App starts</a:t>
            </a:r>
          </a:p>
          <a:p>
            <a:pPr lvl="1"/>
            <a:r>
              <a:rPr lang="en-US" sz="2000" dirty="0"/>
              <a:t>Google Play Services initializes</a:t>
            </a:r>
          </a:p>
          <a:p>
            <a:pPr lvl="1"/>
            <a:r>
              <a:rPr lang="en-US" sz="2000" dirty="0"/>
              <a:t>Location Services fetch user location</a:t>
            </a:r>
          </a:p>
          <a:p>
            <a:pPr lvl="1"/>
            <a:r>
              <a:rPr lang="en-US" sz="2000" dirty="0"/>
              <a:t>Google Maps shows:</a:t>
            </a:r>
          </a:p>
          <a:p>
            <a:pPr lvl="2"/>
            <a:r>
              <a:rPr lang="en-US" sz="1800" dirty="0"/>
              <a:t>Restaurant location</a:t>
            </a:r>
          </a:p>
          <a:p>
            <a:pPr lvl="2"/>
            <a:r>
              <a:rPr lang="en-US" sz="1800" dirty="0"/>
              <a:t>Delivery route</a:t>
            </a:r>
          </a:p>
          <a:p>
            <a:pPr lvl="2"/>
            <a:r>
              <a:rPr lang="en-US" sz="1800" dirty="0"/>
              <a:t>Rider movement</a:t>
            </a:r>
          </a:p>
          <a:p>
            <a:endParaRPr lang="en-US" sz="2400" dirty="0"/>
          </a:p>
        </p:txBody>
      </p:sp>
    </p:spTree>
    <p:extLst>
      <p:ext uri="{BB962C8B-B14F-4D97-AF65-F5344CB8AC3E}">
        <p14:creationId xmlns:p14="http://schemas.microsoft.com/office/powerpoint/2010/main" val="11702575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2800" b="1" dirty="0"/>
              <a:t>Advantages of Using Google Services</a:t>
            </a:r>
          </a:p>
          <a:p>
            <a:pPr marL="400050" lvl="1" indent="0">
              <a:buNone/>
            </a:pPr>
            <a:r>
              <a:rPr lang="en-US" sz="2400" dirty="0"/>
              <a:t>✔ Less coding</a:t>
            </a:r>
            <a:br>
              <a:rPr lang="en-US" sz="2400" dirty="0"/>
            </a:br>
            <a:r>
              <a:rPr lang="en-US" sz="2400" dirty="0"/>
              <a:t>✔ Accurate location</a:t>
            </a:r>
            <a:br>
              <a:rPr lang="en-US" sz="2400" dirty="0"/>
            </a:br>
            <a:r>
              <a:rPr lang="en-US" sz="2400" dirty="0"/>
              <a:t>✔ Battery efficient</a:t>
            </a:r>
            <a:br>
              <a:rPr lang="en-US" sz="2400" dirty="0"/>
            </a:br>
            <a:r>
              <a:rPr lang="en-US" sz="2400" dirty="0"/>
              <a:t>✔ Secure and reliable</a:t>
            </a:r>
          </a:p>
        </p:txBody>
      </p:sp>
    </p:spTree>
    <p:extLst>
      <p:ext uri="{BB962C8B-B14F-4D97-AF65-F5344CB8AC3E}">
        <p14:creationId xmlns:p14="http://schemas.microsoft.com/office/powerpoint/2010/main" val="123454924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185</TotalTime>
  <Words>1456</Words>
  <Application>Microsoft Office PowerPoint</Application>
  <PresentationFormat>Widescreen</PresentationFormat>
  <Paragraphs>299</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 Unicode MS</vt:lpstr>
      <vt:lpstr>Arial</vt:lpstr>
      <vt:lpstr>Century Gothic</vt:lpstr>
      <vt:lpstr>Wingdings</vt:lpstr>
      <vt:lpstr>Wingdings 3</vt:lpstr>
      <vt:lpstr>Wisp</vt:lpstr>
      <vt:lpstr>MOBILE APPLICATIONS DEVELOPMENT</vt:lpstr>
      <vt:lpstr>PowerPoint Presentation</vt:lpstr>
      <vt:lpstr>Activity Lifecycle in Android</vt:lpstr>
      <vt:lpstr>PowerPoint Presentation</vt:lpstr>
      <vt:lpstr>PowerPoint Presentation</vt:lpstr>
      <vt:lpstr>PowerPoint Presentation</vt:lpstr>
      <vt:lpstr>1. onCreate()</vt:lpstr>
      <vt:lpstr>PowerPoint Presentation</vt:lpstr>
      <vt:lpstr>PowerPoint Presentation</vt:lpstr>
      <vt:lpstr>PowerPoint Presentation</vt:lpstr>
      <vt:lpstr>PowerPoint Presentation</vt:lpstr>
      <vt:lpstr>PowerPoint Presentation</vt:lpstr>
      <vt:lpstr>PowerPoint Presentation</vt:lpstr>
      <vt:lpstr>Simple Real-Life Example</vt:lpstr>
      <vt:lpstr>Introduction to JSON in Android</vt:lpstr>
      <vt:lpstr>PowerPoint Presentation</vt:lpstr>
      <vt:lpstr>JSON Data Types</vt:lpstr>
      <vt:lpstr>PowerPoint Presentation</vt:lpstr>
      <vt:lpstr>INDENT IN ANDROID</vt:lpstr>
      <vt:lpstr>1. Indent in Code (Formatting)</vt:lpstr>
      <vt:lpstr>Indent in UI (Layout / Design)</vt:lpstr>
      <vt:lpstr>SQLite Database in Android</vt:lpstr>
      <vt:lpstr>Features of SQLite </vt:lpstr>
      <vt:lpstr>SQLite Architecture in Android</vt:lpstr>
      <vt:lpstr>SQLite Data Types</vt:lpstr>
      <vt:lpstr>Cursor Class</vt:lpstr>
      <vt:lpstr>PowerPoint Presentation</vt:lpstr>
      <vt:lpstr>PowerPoint Presentation</vt:lpstr>
      <vt:lpstr>Google Play Services </vt:lpstr>
      <vt:lpstr>PowerPoint Presentation</vt:lpstr>
      <vt:lpstr>Location Services</vt:lpstr>
      <vt:lpstr>PowerPoint Presentation</vt:lpstr>
      <vt:lpstr>Google Maps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SABITHA</dc:creator>
  <cp:lastModifiedBy>SABITHA</cp:lastModifiedBy>
  <cp:revision>24</cp:revision>
  <dcterms:created xsi:type="dcterms:W3CDTF">2026-01-17T14:58:13Z</dcterms:created>
  <dcterms:modified xsi:type="dcterms:W3CDTF">2026-01-20T04:32:07Z</dcterms:modified>
</cp:coreProperties>
</file>